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0" name="Shape 17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0414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6510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2606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28702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2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1pPr>
          </a:lstStyle>
          <a:p>
            <a:pPr/>
            <a:r>
              <a:t>Presentation Subtitle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7690" y="1106137"/>
            <a:ext cx="21968621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0414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6510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2606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28702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Body Level One…"/>
          <p:cNvSpPr txBox="1"/>
          <p:nvPr>
            <p:ph type="body" sz="quarter" idx="22" hasCustomPrompt="1"/>
          </p:nvPr>
        </p:nvSpPr>
        <p:spPr>
          <a:xfrm>
            <a:off x="1206500" y="11609909"/>
            <a:ext cx="21971000" cy="111695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1pPr>
          </a:lstStyle>
          <a:p>
            <a:pPr/>
            <a:r>
              <a:t>Presentation Subtitle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JASP logo.svg" descr="JASP logo.svg"/>
          <p:cNvPicPr>
            <a:picLocks noChangeAspect="1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3"/>
            <a:ext cx="1815396" cy="1731368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4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2827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8923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5019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31115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2827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8923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5019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31115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63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4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2827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8923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5019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31115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74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2827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8923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5019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31115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84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1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2827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8923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5019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31115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0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2827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8923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5019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31115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Agenda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99" sz="55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Agenda Topics</a:t>
            </a:r>
          </a:p>
        </p:txBody>
      </p:sp>
      <p:sp>
        <p:nvSpPr>
          <p:cNvPr id="1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Body Level One…"/>
          <p:cNvSpPr txBox="1"/>
          <p:nvPr>
            <p:ph type="body" idx="1" hasCustomPrompt="1"/>
          </p:nvPr>
        </p:nvSpPr>
        <p:spPr>
          <a:xfrm>
            <a:off x="1206500" y="1075926"/>
            <a:ext cx="21971000" cy="7241586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+mj-lt"/>
                <a:ea typeface="+mj-ea"/>
                <a:cs typeface="+mj-cs"/>
                <a:sym typeface="Helvetica Neue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+mj-lt"/>
                <a:ea typeface="+mj-ea"/>
                <a:cs typeface="+mj-cs"/>
                <a:sym typeface="Helvetica Neue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+mj-lt"/>
                <a:ea typeface="+mj-ea"/>
                <a:cs typeface="+mj-cs"/>
                <a:sym typeface="Helvetica Neue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+mj-lt"/>
                <a:ea typeface="+mj-ea"/>
                <a:cs typeface="+mj-cs"/>
                <a:sym typeface="Helvetica Neue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+mj-lt"/>
                <a:ea typeface="+mj-ea"/>
                <a:cs typeface="+mj-cs"/>
                <a:sym typeface="Helvetica Neue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Body Level One…"/>
          <p:cNvSpPr txBox="1"/>
          <p:nvPr>
            <p:ph type="body" sz="quarter" idx="1" hasCustomPrompt="1"/>
          </p:nvPr>
        </p:nvSpPr>
        <p:spPr>
          <a:xfrm>
            <a:off x="2430024" y="10675453"/>
            <a:ext cx="2020005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latin typeface="+mj-lt"/>
                <a:ea typeface="+mj-ea"/>
                <a:cs typeface="+mj-cs"/>
                <a:sym typeface="Helvetica Neue"/>
              </a:defRPr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+mj-lt"/>
                <a:ea typeface="+mj-ea"/>
                <a:cs typeface="+mj-cs"/>
                <a:sym typeface="Helvetica Neue"/>
              </a:defRPr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+mj-lt"/>
                <a:ea typeface="+mj-ea"/>
                <a:cs typeface="+mj-cs"/>
                <a:sym typeface="Helvetica Neue"/>
              </a:defRPr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+mj-lt"/>
                <a:ea typeface="+mj-ea"/>
                <a:cs typeface="+mj-cs"/>
                <a:sym typeface="Helvetica Neue"/>
              </a:defRPr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+mj-lt"/>
                <a:ea typeface="+mj-ea"/>
                <a:cs typeface="+mj-cs"/>
                <a:sym typeface="Helvetica Neue"/>
              </a:defRPr>
            </a:lvl5pPr>
          </a:lstStyle>
          <a:p>
            <a:pPr/>
            <a:r>
              <a:t>Attribution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Body Level One…"/>
          <p:cNvSpPr txBox="1"/>
          <p:nvPr>
            <p:ph type="body" sz="half" idx="21" hasCustomPrompt="1"/>
          </p:nvPr>
        </p:nvSpPr>
        <p:spPr>
          <a:xfrm>
            <a:off x="1753923" y="4939860"/>
            <a:ext cx="20876154" cy="3836281"/>
          </a:xfrm>
          <a:prstGeom prst="rect">
            <a:avLst/>
          </a:prstGeom>
        </p:spPr>
        <p:txBody>
          <a:bodyPr numCol="1" spcCol="38100"/>
          <a:lstStyle>
            <a:lvl1pPr marL="469900" indent="-300876">
              <a:spcBef>
                <a:spcPts val="0"/>
              </a:spcBef>
              <a:buSzTx/>
              <a:buNone/>
              <a:defRPr spc="-20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“Notable Quote”</a:t>
            </a:r>
          </a:p>
        </p:txBody>
      </p:sp>
      <p:sp>
        <p:nvSpPr>
          <p:cNvPr id="1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6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7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jasp-stats.github.io/jaspGraphs/index.html" TargetMode="External"/><Relationship Id="rId3" Type="http://schemas.openxmlformats.org/officeDocument/2006/relationships/image" Target="../media/image9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tif"/><Relationship Id="rId3" Type="http://schemas.openxmlformats.org/officeDocument/2006/relationships/image" Target="../media/image2.tif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julianwuth/jaspModuleTemplate/tree/plot-example" TargetMode="External"/><Relationship Id="rId3" Type="http://schemas.openxmlformats.org/officeDocument/2006/relationships/hyperlink" Target="https://github.com/jasp-stats/jasp-desktop/blob/development/Docs/development/r-analyses-guide.md#step-52---plots" TargetMode="Externa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11.02.2026                                                                                                                                      julian.wuth@student.uva.nl"/>
          <p:cNvSpPr txBox="1"/>
          <p:nvPr>
            <p:ph type="body" sz="quarter" idx="1"/>
          </p:nvPr>
        </p:nvSpPr>
        <p:spPr>
          <a:xfrm>
            <a:off x="1201341" y="11859862"/>
            <a:ext cx="21971002" cy="636980"/>
          </a:xfrm>
          <a:prstGeom prst="rect">
            <a:avLst/>
          </a:prstGeom>
        </p:spPr>
        <p:txBody>
          <a:bodyPr/>
          <a:lstStyle/>
          <a:p>
            <a:pPr/>
            <a:r>
              <a:t>04.03.2026                                                                                                                                      julian.wuth@student.uva.nl</a:t>
            </a:r>
          </a:p>
        </p:txBody>
      </p:sp>
      <p:sp>
        <p:nvSpPr>
          <p:cNvPr id="173" name="JASP Student Developers"/>
          <p:cNvSpPr txBox="1"/>
          <p:nvPr>
            <p:ph type="title"/>
          </p:nvPr>
        </p:nvSpPr>
        <p:spPr>
          <a:xfrm>
            <a:off x="1206495" y="2574991"/>
            <a:ext cx="21971006" cy="4648202"/>
          </a:xfrm>
          <a:prstGeom prst="rect">
            <a:avLst/>
          </a:prstGeom>
        </p:spPr>
        <p:txBody>
          <a:bodyPr/>
          <a:lstStyle>
            <a:lvl1pPr>
              <a:defRPr spc="-300"/>
            </a:lvl1pPr>
          </a:lstStyle>
          <a:p>
            <a:pPr/>
            <a:r>
              <a:t>JASP Student Developers</a:t>
            </a:r>
          </a:p>
        </p:txBody>
      </p:sp>
      <p:sp>
        <p:nvSpPr>
          <p:cNvPr id="174" name="Introduction to R-Coding for JASP"/>
          <p:cNvSpPr txBox="1"/>
          <p:nvPr/>
        </p:nvSpPr>
        <p:spPr>
          <a:xfrm>
            <a:off x="1201342" y="7223190"/>
            <a:ext cx="21971002" cy="1905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sz="5500"/>
            </a:lvl1pPr>
          </a:lstStyle>
          <a:p>
            <a:pPr/>
            <a:r>
              <a:t>Creating Plots in JASP</a:t>
            </a:r>
          </a:p>
        </p:txBody>
      </p:sp>
      <p:pic>
        <p:nvPicPr>
          <p:cNvPr id="175" name="JASP logo.svg" descr="JASP logo.svg"/>
          <p:cNvPicPr>
            <a:picLocks noChangeAspect="1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3"/>
            <a:ext cx="1815396" cy="1731368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200" sz="8400"/>
            </a:lvl1pPr>
          </a:lstStyle>
          <a:p>
            <a:pPr/>
            <a:r>
              <a:t>Contents</a:t>
            </a:r>
          </a:p>
        </p:txBody>
      </p:sp>
      <p:sp>
        <p:nvSpPr>
          <p:cNvPr id="179" name="The Main Analysis Function…"/>
          <p:cNvSpPr txBox="1"/>
          <p:nvPr>
            <p:ph type="body" idx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889000" indent="-889000" defTabSz="2438337">
              <a:lnSpc>
                <a:spcPct val="90000"/>
              </a:lnSpc>
              <a:spcBef>
                <a:spcPts val="4500"/>
              </a:spcBef>
              <a:buSzPct val="100000"/>
              <a:buAutoNum type="arabicPeriod" startAt="1"/>
              <a:defRPr sz="4800"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Quick recap</a:t>
            </a:r>
          </a:p>
          <a:p>
            <a:pPr marL="889000" indent="-889000" defTabSz="2438337">
              <a:lnSpc>
                <a:spcPct val="90000"/>
              </a:lnSpc>
              <a:spcBef>
                <a:spcPts val="4500"/>
              </a:spcBef>
              <a:buSzPct val="100000"/>
              <a:buAutoNum type="arabicPeriod" startAt="1"/>
              <a:defRPr sz="4800"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Plots</a:t>
            </a:r>
          </a:p>
          <a:p>
            <a:pPr lvl="1" marL="1219200" indent="-609600" defTabSz="2438337">
              <a:lnSpc>
                <a:spcPct val="90000"/>
              </a:lnSpc>
              <a:spcBef>
                <a:spcPts val="4500"/>
              </a:spcBef>
              <a:defRPr sz="4800"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Coding challenge</a:t>
            </a:r>
          </a:p>
        </p:txBody>
      </p:sp>
      <p:sp>
        <p:nvSpPr>
          <p:cNvPr id="180" name="Slide Number"/>
          <p:cNvSpPr txBox="1"/>
          <p:nvPr>
            <p:ph type="sldNum" sz="quarter" idx="4294967295"/>
          </p:nvPr>
        </p:nvSpPr>
        <p:spPr>
          <a:xfrm>
            <a:off x="12065050" y="13080998"/>
            <a:ext cx="241402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1" name="JASP logo.svg" descr="JASP logo.svg"/>
          <p:cNvPicPr>
            <a:picLocks noChangeAspect="1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3"/>
            <a:ext cx="1815396" cy="17313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79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200" sz="8400"/>
            </a:lvl1pPr>
          </a:lstStyle>
          <a:p>
            <a:pPr/>
            <a:r>
              <a:t>Contents</a:t>
            </a:r>
          </a:p>
        </p:txBody>
      </p:sp>
      <p:sp>
        <p:nvSpPr>
          <p:cNvPr id="184" name="The Main Analysis Function…"/>
          <p:cNvSpPr txBox="1"/>
          <p:nvPr>
            <p:ph type="body" idx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889000" indent="-889000" defTabSz="2438337">
              <a:lnSpc>
                <a:spcPct val="90000"/>
              </a:lnSpc>
              <a:spcBef>
                <a:spcPts val="4500"/>
              </a:spcBef>
              <a:buSzPct val="100000"/>
              <a:buAutoNum type="arabicPeriod" startAt="1"/>
              <a:defRPr sz="4800"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Quick recap</a:t>
            </a:r>
          </a:p>
          <a:p>
            <a:pPr marL="889000" indent="-889000" defTabSz="2438337">
              <a:lnSpc>
                <a:spcPct val="90000"/>
              </a:lnSpc>
              <a:spcBef>
                <a:spcPts val="4500"/>
              </a:spcBef>
              <a:buSzPct val="100000"/>
              <a:buAutoNum type="arabicPeriod" startAt="1"/>
              <a:defRPr sz="4800">
                <a:solidFill>
                  <a:srgbClr val="000000">
                    <a:alpha val="25000"/>
                  </a:srgbClr>
                </a:solidFill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Plots</a:t>
            </a:r>
          </a:p>
          <a:p>
            <a:pPr lvl="1" marL="1219200" indent="-609600" defTabSz="2438337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>
                    <a:alpha val="25000"/>
                  </a:srgbClr>
                </a:solidFill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Coding challenge</a:t>
            </a:r>
          </a:p>
        </p:txBody>
      </p:sp>
      <p:sp>
        <p:nvSpPr>
          <p:cNvPr id="185" name="Slide Number"/>
          <p:cNvSpPr txBox="1"/>
          <p:nvPr>
            <p:ph type="sldNum" sz="quarter" idx="4294967295"/>
          </p:nvPr>
        </p:nvSpPr>
        <p:spPr>
          <a:xfrm>
            <a:off x="12065050" y="13080998"/>
            <a:ext cx="241402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6" name="JASP logo.svg" descr="JASP logo.svg"/>
          <p:cNvPicPr>
            <a:picLocks noChangeAspect="1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3"/>
            <a:ext cx="1815396" cy="17313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94924" y="91170"/>
            <a:ext cx="13711081" cy="11448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4" name="Group"/>
          <p:cNvGrpSpPr/>
          <p:nvPr/>
        </p:nvGrpSpPr>
        <p:grpSpPr>
          <a:xfrm>
            <a:off x="133324" y="1241578"/>
            <a:ext cx="12150890" cy="7695649"/>
            <a:chOff x="0" y="-1"/>
            <a:chExt cx="12150888" cy="7695648"/>
          </a:xfrm>
        </p:grpSpPr>
        <p:grpSp>
          <p:nvGrpSpPr>
            <p:cNvPr id="191" name="Group"/>
            <p:cNvGrpSpPr/>
            <p:nvPr/>
          </p:nvGrpSpPr>
          <p:grpSpPr>
            <a:xfrm>
              <a:off x="-1" y="-2"/>
              <a:ext cx="12150890" cy="7695649"/>
              <a:chOff x="0" y="-1"/>
              <a:chExt cx="12150888" cy="7695647"/>
            </a:xfrm>
          </p:grpSpPr>
          <p:pic>
            <p:nvPicPr>
              <p:cNvPr id="189" name="pasted-movie.png" descr="pasted-movie.png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-1" y="1003244"/>
                <a:ext cx="12150890" cy="669240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90" name="options"/>
              <p:cNvSpPr txBox="1"/>
              <p:nvPr/>
            </p:nvSpPr>
            <p:spPr>
              <a:xfrm>
                <a:off x="4990812" y="-2"/>
                <a:ext cx="2169263" cy="86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>
                    <a:latin typeface="Google Sans Regular"/>
                    <a:ea typeface="Google Sans Regular"/>
                    <a:cs typeface="Google Sans Regular"/>
                    <a:sym typeface="Google Sans Regular"/>
                  </a:defRPr>
                </a:lvl1pPr>
              </a:lstStyle>
              <a:p>
                <a:pPr/>
                <a:r>
                  <a:t>options</a:t>
                </a:r>
              </a:p>
            </p:txBody>
          </p:sp>
        </p:grpSp>
        <p:sp>
          <p:nvSpPr>
            <p:cNvPr id="192" name="Rectangle"/>
            <p:cNvSpPr/>
            <p:nvPr/>
          </p:nvSpPr>
          <p:spPr>
            <a:xfrm>
              <a:off x="238137" y="4855519"/>
              <a:ext cx="11674614" cy="111762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63500" cap="flat">
              <a:solidFill>
                <a:srgbClr val="EE230C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93" name="Rectangle"/>
            <p:cNvSpPr/>
            <p:nvPr/>
          </p:nvSpPr>
          <p:spPr>
            <a:xfrm>
              <a:off x="238136" y="6481891"/>
              <a:ext cx="11674615" cy="1117622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63500" cap="flat">
              <a:solidFill>
                <a:srgbClr val="EE230C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grpSp>
        <p:nvGrpSpPr>
          <p:cNvPr id="199" name="Group"/>
          <p:cNvGrpSpPr/>
          <p:nvPr/>
        </p:nvGrpSpPr>
        <p:grpSpPr>
          <a:xfrm>
            <a:off x="15998784" y="1695346"/>
            <a:ext cx="5097033" cy="6788113"/>
            <a:chOff x="0" y="-2"/>
            <a:chExt cx="5097031" cy="6788112"/>
          </a:xfrm>
        </p:grpSpPr>
        <p:grpSp>
          <p:nvGrpSpPr>
            <p:cNvPr id="197" name="Group"/>
            <p:cNvGrpSpPr/>
            <p:nvPr/>
          </p:nvGrpSpPr>
          <p:grpSpPr>
            <a:xfrm>
              <a:off x="0" y="-3"/>
              <a:ext cx="5097032" cy="6788113"/>
              <a:chOff x="0" y="-1"/>
              <a:chExt cx="5097031" cy="6788111"/>
            </a:xfrm>
          </p:grpSpPr>
          <p:pic>
            <p:nvPicPr>
              <p:cNvPr id="195" name="pasted-movie.png" descr="pasted-movie.png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0" y="986609"/>
                <a:ext cx="5097033" cy="580150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96" name="dataset"/>
              <p:cNvSpPr txBox="1"/>
              <p:nvPr/>
            </p:nvSpPr>
            <p:spPr>
              <a:xfrm>
                <a:off x="1426697" y="-2"/>
                <a:ext cx="2182064" cy="86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>
                    <a:latin typeface="Google Sans Regular"/>
                    <a:ea typeface="Google Sans Regular"/>
                    <a:cs typeface="Google Sans Regular"/>
                    <a:sym typeface="Google Sans Regular"/>
                  </a:defRPr>
                </a:lvl1pPr>
              </a:lstStyle>
              <a:p>
                <a:pPr/>
                <a:r>
                  <a:t>dataset</a:t>
                </a:r>
              </a:p>
            </p:txBody>
          </p:sp>
        </p:grpSp>
        <p:sp>
          <p:nvSpPr>
            <p:cNvPr id="198" name="Rectangle"/>
            <p:cNvSpPr/>
            <p:nvPr/>
          </p:nvSpPr>
          <p:spPr>
            <a:xfrm>
              <a:off x="1171923" y="982324"/>
              <a:ext cx="3428064" cy="50377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63500" cap="flat">
              <a:solidFill>
                <a:srgbClr val="EE230C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pic>
        <p:nvPicPr>
          <p:cNvPr id="200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731163" y="9113473"/>
            <a:ext cx="16921674" cy="4441941"/>
          </a:xfrm>
          <a:prstGeom prst="rect">
            <a:avLst/>
          </a:prstGeom>
          <a:ln w="12700">
            <a:miter lim="400000"/>
          </a:ln>
        </p:spPr>
      </p:pic>
      <p:sp>
        <p:nvSpPr>
          <p:cNvPr id="201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200" sz="8400"/>
            </a:lvl1pPr>
          </a:lstStyle>
          <a:p>
            <a:pPr/>
            <a:r>
              <a:t>Contents</a:t>
            </a:r>
          </a:p>
        </p:txBody>
      </p:sp>
      <p:sp>
        <p:nvSpPr>
          <p:cNvPr id="204" name="The Main Analysis Function…"/>
          <p:cNvSpPr txBox="1"/>
          <p:nvPr>
            <p:ph type="body" idx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889000" indent="-889000" defTabSz="2438337">
              <a:lnSpc>
                <a:spcPct val="90000"/>
              </a:lnSpc>
              <a:spcBef>
                <a:spcPts val="4500"/>
              </a:spcBef>
              <a:buSzPct val="100000"/>
              <a:buAutoNum type="arabicPeriod" startAt="1"/>
              <a:defRPr sz="4800">
                <a:solidFill>
                  <a:srgbClr val="000000">
                    <a:alpha val="25000"/>
                  </a:srgbClr>
                </a:solidFill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Quick recap</a:t>
            </a:r>
          </a:p>
          <a:p>
            <a:pPr marL="889000" indent="-889000" defTabSz="2438337">
              <a:lnSpc>
                <a:spcPct val="90000"/>
              </a:lnSpc>
              <a:spcBef>
                <a:spcPts val="4500"/>
              </a:spcBef>
              <a:buSzPct val="100000"/>
              <a:buAutoNum type="arabicPeriod" startAt="1"/>
              <a:defRPr sz="4800"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Plots</a:t>
            </a:r>
          </a:p>
          <a:p>
            <a:pPr lvl="1" marL="1219200" indent="-609600" defTabSz="2438337">
              <a:lnSpc>
                <a:spcPct val="90000"/>
              </a:lnSpc>
              <a:spcBef>
                <a:spcPts val="4500"/>
              </a:spcBef>
              <a:defRPr sz="4800"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Coding challenge</a:t>
            </a:r>
          </a:p>
        </p:txBody>
      </p:sp>
      <p:sp>
        <p:nvSpPr>
          <p:cNvPr id="205" name="Slide Number"/>
          <p:cNvSpPr txBox="1"/>
          <p:nvPr>
            <p:ph type="sldNum" sz="quarter" idx="4294967295"/>
          </p:nvPr>
        </p:nvSpPr>
        <p:spPr>
          <a:xfrm>
            <a:off x="12065050" y="13080998"/>
            <a:ext cx="241402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06" name="JASP logo.svg" descr="JASP logo.svg"/>
          <p:cNvPicPr>
            <a:picLocks noChangeAspect="1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3"/>
            <a:ext cx="1815396" cy="17313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otting in JAS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Plotting in JASP</a:t>
            </a:r>
          </a:p>
        </p:txBody>
      </p:sp>
      <p:sp>
        <p:nvSpPr>
          <p:cNvPr id="209" name="Step-by-step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Step-by-step</a:t>
            </a:r>
          </a:p>
        </p:txBody>
      </p:sp>
      <p:sp>
        <p:nvSpPr>
          <p:cNvPr id="210" name="Body Level One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641684" indent="-641684">
              <a:buSzPct val="100000"/>
              <a:buAutoNum type="arabicPeriod" startAt="1"/>
            </a:pPr>
            <a:r>
              <a:t>Create the plot</a:t>
            </a:r>
          </a:p>
          <a:p>
            <a:pPr marL="641684" indent="-641684">
              <a:buSzPct val="100000"/>
              <a:buAutoNum type="arabicPeriod" startAt="1"/>
            </a:pPr>
            <a:r>
              <a:t>Add plot to output</a:t>
            </a:r>
          </a:p>
          <a:p>
            <a:pPr marL="641684" indent="-641684">
              <a:buSzPct val="100000"/>
              <a:buAutoNum type="arabicPeriod" startAt="1"/>
            </a:pPr>
            <a:r>
              <a:t>Fill the plot</a:t>
            </a:r>
          </a:p>
        </p:txBody>
      </p:sp>
      <p:sp>
        <p:nvSpPr>
          <p:cNvPr id="211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210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otting in JAS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Plotting in JASP</a:t>
            </a:r>
          </a:p>
        </p:txBody>
      </p:sp>
      <p:sp>
        <p:nvSpPr>
          <p:cNvPr id="214" name="R-code (steps 1&amp;2)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R-code (steps 1&amp;2)</a:t>
            </a:r>
          </a:p>
        </p:txBody>
      </p:sp>
      <p:pic>
        <p:nvPicPr>
          <p:cNvPr id="21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87281" y="4316672"/>
            <a:ext cx="20009438" cy="5870056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otting in JAS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Plotting in JASP</a:t>
            </a:r>
          </a:p>
        </p:txBody>
      </p:sp>
      <p:sp>
        <p:nvSpPr>
          <p:cNvPr id="219" name="R-code (step 3)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R-code (step 3)</a:t>
            </a:r>
          </a:p>
        </p:txBody>
      </p:sp>
      <p:sp>
        <p:nvSpPr>
          <p:cNvPr id="220" name="Body Level One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Like with tables, filling is usually handled by a separate function</a:t>
            </a:r>
          </a:p>
          <a:p>
            <a:pPr/>
            <a:r>
              <a:t>The final plot is assigned to the plotObject property</a:t>
            </a:r>
          </a:p>
        </p:txBody>
      </p:sp>
      <p:pic>
        <p:nvPicPr>
          <p:cNvPr id="22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47615" y="6927001"/>
            <a:ext cx="18423913" cy="5211092"/>
          </a:xfrm>
          <a:prstGeom prst="rect">
            <a:avLst/>
          </a:prstGeom>
          <a:ln w="12700">
            <a:miter lim="400000"/>
          </a:ln>
        </p:spPr>
      </p:pic>
      <p:sp>
        <p:nvSpPr>
          <p:cNvPr id="222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otting in JAS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Plotting in JASP</a:t>
            </a:r>
          </a:p>
        </p:txBody>
      </p:sp>
      <p:sp>
        <p:nvSpPr>
          <p:cNvPr id="225" name="Usage of filling function (step 3)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Usage of filling function (step 3)</a:t>
            </a:r>
          </a:p>
        </p:txBody>
      </p:sp>
      <p:sp>
        <p:nvSpPr>
          <p:cNvPr id="226" name="Body Level One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Filling function is then called within the function that creates the plot if analysis is ready (cf. output tables)</a:t>
            </a:r>
          </a:p>
        </p:txBody>
      </p:sp>
      <p:pic>
        <p:nvPicPr>
          <p:cNvPr id="22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09276" y="5819726"/>
            <a:ext cx="18250743" cy="7852824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jaspGraph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jaspGraphs</a:t>
            </a:r>
          </a:p>
        </p:txBody>
      </p:sp>
      <p:sp>
        <p:nvSpPr>
          <p:cNvPr id="231" name="JASP’s own plotting package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JASP’s own plotting package</a:t>
            </a:r>
          </a:p>
        </p:txBody>
      </p:sp>
      <p:sp>
        <p:nvSpPr>
          <p:cNvPr id="232" name="Body Level One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Mainly used for applying JASP style to ggplot objects:</a:t>
            </a:r>
          </a:p>
          <a:p>
            <a:pPr marL="0" indent="0">
              <a:buSzTx/>
              <a:buNone/>
            </a:pPr>
          </a:p>
          <a:p>
            <a:pPr marL="481263" indent="-481263">
              <a:buSzPct val="100000"/>
            </a:pPr>
            <a:r>
              <a:t>Also comes with complete plotting functions (e.g., </a:t>
            </a:r>
            <a:r>
              <a:rPr>
                <a:latin typeface="Google Sans Code Regular"/>
                <a:ea typeface="Google Sans Code Regular"/>
                <a:cs typeface="Google Sans Code Regular"/>
                <a:sym typeface="Google Sans Code Regular"/>
              </a:rPr>
              <a:t>jaspHistogram()</a:t>
            </a:r>
            <a:r>
              <a:t>)</a:t>
            </a:r>
          </a:p>
          <a:p>
            <a:pPr marL="481263" indent="-481263">
              <a:buSzPct val="100000"/>
            </a:pPr>
            <a:r>
              <a:t>Only available on GitHub. E.g., via </a:t>
            </a:r>
            <a:r>
              <a:rPr>
                <a:solidFill>
                  <a:srgbClr val="202124"/>
                </a:solidFill>
                <a:latin typeface="Google Sans Code Regular"/>
                <a:ea typeface="Google Sans Code Regular"/>
                <a:cs typeface="Google Sans Code Regular"/>
                <a:sym typeface="Google Sans Code Regular"/>
              </a:rPr>
              <a:t>remotes::install_github("jasp-stats/jaspGraphs")</a:t>
            </a:r>
            <a:endParaRPr>
              <a:solidFill>
                <a:srgbClr val="202124"/>
              </a:solidFill>
              <a:latin typeface="Google Sans Code Regular"/>
              <a:ea typeface="Google Sans Code Regular"/>
              <a:cs typeface="Google Sans Code Regular"/>
              <a:sym typeface="Google Sans Code Regular"/>
            </a:endParaRPr>
          </a:p>
          <a:p>
            <a:pPr marL="481263" indent="-481263">
              <a:buSzPct val="100000"/>
            </a:pPr>
            <a:r>
              <a:rPr>
                <a:solidFill>
                  <a:srgbClr val="202124"/>
                </a:solidFill>
              </a:rPr>
              <a:t>For a complete overview, see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here</a:t>
            </a:r>
            <a:r>
              <a:rPr>
                <a:solidFill>
                  <a:srgbClr val="202124"/>
                </a:solidFill>
              </a:rPr>
              <a:t>.</a:t>
            </a:r>
          </a:p>
        </p:txBody>
      </p:sp>
      <p:pic>
        <p:nvPicPr>
          <p:cNvPr id="233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06500" y="4248503"/>
            <a:ext cx="15056716" cy="1684487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jaspGraph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jaspGraphs</a:t>
            </a:r>
          </a:p>
        </p:txBody>
      </p:sp>
      <p:sp>
        <p:nvSpPr>
          <p:cNvPr id="237" name="Example styling of a ggplot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styling of a ggplot</a:t>
            </a:r>
          </a:p>
        </p:txBody>
      </p:sp>
      <p:pic>
        <p:nvPicPr>
          <p:cNvPr id="238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5945" y="4433044"/>
            <a:ext cx="9993303" cy="9195117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Before"/>
          <p:cNvSpPr txBox="1"/>
          <p:nvPr/>
        </p:nvSpPr>
        <p:spPr>
          <a:xfrm>
            <a:off x="4706655" y="3438593"/>
            <a:ext cx="2052829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Before</a:t>
            </a:r>
          </a:p>
        </p:txBody>
      </p:sp>
      <p:grpSp>
        <p:nvGrpSpPr>
          <p:cNvPr id="242" name="Group"/>
          <p:cNvGrpSpPr/>
          <p:nvPr/>
        </p:nvGrpSpPr>
        <p:grpSpPr>
          <a:xfrm>
            <a:off x="13286117" y="3438593"/>
            <a:ext cx="9993303" cy="10189568"/>
            <a:chOff x="0" y="0"/>
            <a:chExt cx="9993301" cy="10189566"/>
          </a:xfrm>
        </p:grpSpPr>
        <p:pic>
          <p:nvPicPr>
            <p:cNvPr id="240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994451"/>
              <a:ext cx="9993302" cy="919511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41" name="After"/>
            <p:cNvSpPr txBox="1"/>
            <p:nvPr/>
          </p:nvSpPr>
          <p:spPr>
            <a:xfrm>
              <a:off x="4701392" y="0"/>
              <a:ext cx="1622451" cy="863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After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42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Coding challeng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Coding challenge</a:t>
            </a:r>
          </a:p>
        </p:txBody>
      </p:sp>
      <p:sp>
        <p:nvSpPr>
          <p:cNvPr id="245" name="Creating a histogram in JASP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Creating a histogram in JASP</a:t>
            </a:r>
          </a:p>
        </p:txBody>
      </p:sp>
      <p:sp>
        <p:nvSpPr>
          <p:cNvPr id="246" name="Body Level One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Clone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this repository</a:t>
            </a:r>
            <a:r>
              <a:t>.</a:t>
            </a:r>
          </a:p>
          <a:p>
            <a:pPr/>
            <a:r>
              <a:t>Go to </a:t>
            </a:r>
            <a:r>
              <a:rPr i="1"/>
              <a:t>R/histogram_skeleton.R</a:t>
            </a:r>
            <a:endParaRPr i="1"/>
          </a:p>
          <a:p>
            <a:pPr/>
            <a:r>
              <a:t>The file contains several TODOs for you to work on</a:t>
            </a:r>
          </a:p>
          <a:p>
            <a:pPr/>
            <a:r>
              <a:t>If you need more information about creating plots in JASP, consult the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documentation</a:t>
            </a:r>
            <a:r>
              <a:t>.</a:t>
            </a:r>
          </a:p>
          <a:p>
            <a:pPr/>
            <a:r>
              <a:t>Two potential solutions can be found in </a:t>
            </a:r>
            <a:r>
              <a:rPr i="1"/>
              <a:t>R/histogram_jaspGraphs.R </a:t>
            </a:r>
            <a:r>
              <a:t>or </a:t>
            </a:r>
            <a:r>
              <a:rPr i="1"/>
              <a:t>R/histogram_solution.R</a:t>
            </a:r>
          </a:p>
        </p:txBody>
      </p:sp>
      <p:sp>
        <p:nvSpPr>
          <p:cNvPr id="247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ee you next time!"/>
          <p:cNvSpPr txBox="1"/>
          <p:nvPr>
            <p:ph type="title"/>
          </p:nvPr>
        </p:nvSpPr>
        <p:spPr>
          <a:xfrm>
            <a:off x="1206497" y="4749799"/>
            <a:ext cx="21971006" cy="4648202"/>
          </a:xfrm>
          <a:prstGeom prst="rect">
            <a:avLst/>
          </a:prstGeom>
        </p:spPr>
        <p:txBody>
          <a:bodyPr anchor="ctr"/>
          <a:lstStyle>
            <a:lvl1pPr algn="ctr">
              <a:defRPr spc="-209" sz="10500"/>
            </a:lvl1pPr>
          </a:lstStyle>
          <a:p>
            <a:pPr/>
            <a:r>
              <a:t>See you next time!</a:t>
            </a:r>
          </a:p>
        </p:txBody>
      </p:sp>
      <p:pic>
        <p:nvPicPr>
          <p:cNvPr id="250" name="JASP logo.svg" descr="JASP logo.svg"/>
          <p:cNvPicPr>
            <a:picLocks noChangeAspect="1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10626923" y="1469221"/>
            <a:ext cx="3384118" cy="3227480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oogle Sans Bold"/>
            <a:ea typeface="Google Sans Bold"/>
            <a:cs typeface="Google Sans Bold"/>
            <a:sym typeface="Google Sans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oogle Sans Bold"/>
            <a:ea typeface="Google Sans Bold"/>
            <a:cs typeface="Google Sans Bold"/>
            <a:sym typeface="Google Sans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oogle Sans Bold"/>
            <a:ea typeface="Google Sans Bold"/>
            <a:cs typeface="Google Sans Bold"/>
            <a:sym typeface="Google Sans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oogle Sans Bold"/>
            <a:ea typeface="Google Sans Bold"/>
            <a:cs typeface="Google Sans Bold"/>
            <a:sym typeface="Google Sans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