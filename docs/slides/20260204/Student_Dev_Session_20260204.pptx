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oogle Sans Regular"/>
        <a:ea typeface="Google Sans Regular"/>
        <a:cs typeface="Google Sans Regular"/>
        <a:sym typeface="Google Sans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55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3455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Google Sans 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08990">
              <a:lnSpc>
                <a:spcPct val="100000"/>
              </a:lnSpc>
              <a:spcBef>
                <a:spcPts val="0"/>
              </a:spcBef>
              <a:buSzTx/>
              <a:buNone/>
              <a:defRPr sz="5390">
                <a:latin typeface="+mn-lt"/>
                <a:ea typeface="+mn-ea"/>
                <a:cs typeface="+mn-cs"/>
                <a:sym typeface="Google Sans 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Google Sans Bold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oogle Sans Regular"/>
          <a:ea typeface="Google Sans Regular"/>
          <a:cs typeface="Google Sans Regular"/>
          <a:sym typeface="Google Sans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github.com/jasp-stats/jasp-desktop/blob/development/Docs/development/jasp-module-structure.md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jasp-stats/jaspModuleTemplate/blob/master/inst/Description.qml" TargetMode="External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jasp-stats/jaspModuleTemplate" TargetMode="External"/><Relationship Id="rId3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jasp-stats/jasp-desktop/blob/development/Docs/development/jasp-qml-guide.md" TargetMode="External"/><Relationship Id="rId3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04.02.2026                                                                                                                                      julian.wuth@student.uva.nl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04.02.2026                                                                                                                                      julian.wuth@student.uva.nl</a:t>
            </a:r>
          </a:p>
        </p:txBody>
      </p:sp>
      <p:sp>
        <p:nvSpPr>
          <p:cNvPr id="172" name="JASP Student Developer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JASP Student Developers</a:t>
            </a:r>
          </a:p>
        </p:txBody>
      </p:sp>
      <p:sp>
        <p:nvSpPr>
          <p:cNvPr id="173" name="Introduction to QML for JASP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Introduction to QML for JASP</a:t>
            </a:r>
          </a:p>
        </p:txBody>
      </p:sp>
      <p:pic>
        <p:nvPicPr>
          <p:cNvPr id="174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Contents</a:t>
            </a:r>
          </a:p>
        </p:txBody>
      </p:sp>
      <p:sp>
        <p:nvSpPr>
          <p:cNvPr id="177" name="General structure of a modul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</a:pPr>
            <a:r>
              <a:t>General structure of a module</a:t>
            </a:r>
          </a:p>
          <a:p>
            <a:pPr marL="889000" indent="-889000">
              <a:buSzPct val="100000"/>
              <a:buAutoNum type="arabicPeriod" startAt="1"/>
            </a:pPr>
            <a:r>
              <a:t>QML files and QML coding</a:t>
            </a:r>
          </a:p>
          <a:p>
            <a:pPr lvl="1"/>
            <a:r>
              <a:t>Coding challenges</a:t>
            </a:r>
          </a:p>
        </p:txBody>
      </p:sp>
      <p:pic>
        <p:nvPicPr>
          <p:cNvPr id="178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Contents</a:t>
            </a:r>
          </a:p>
        </p:txBody>
      </p:sp>
      <p:sp>
        <p:nvSpPr>
          <p:cNvPr id="182" name="General structure of a modul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</a:pPr>
            <a:r>
              <a:t>General structure of a module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4565"/>
                  </a:srgbClr>
                </a:solidFill>
              </a:defRPr>
            </a:pPr>
            <a:r>
              <a:t>QML files and QML coding</a:t>
            </a:r>
          </a:p>
          <a:p>
            <a:pPr lvl="1">
              <a:defRPr>
                <a:solidFill>
                  <a:srgbClr val="000000">
                    <a:alpha val="24565"/>
                  </a:srgbClr>
                </a:solidFill>
              </a:defRPr>
            </a:pPr>
            <a:r>
              <a:t>Coding challenges</a:t>
            </a:r>
          </a:p>
        </p:txBody>
      </p:sp>
      <p:pic>
        <p:nvPicPr>
          <p:cNvPr id="183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he JASP modu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The JASP module</a:t>
            </a:r>
          </a:p>
        </p:txBody>
      </p:sp>
      <p:sp>
        <p:nvSpPr>
          <p:cNvPr id="187" name="Folder structur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Folder structure</a:t>
            </a:r>
          </a:p>
        </p:txBody>
      </p:sp>
      <p:pic>
        <p:nvPicPr>
          <p:cNvPr id="18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16523" y="755362"/>
            <a:ext cx="14164937" cy="12205276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Today, we’ll focus on the inst folder…"/>
          <p:cNvSpPr txBox="1"/>
          <p:nvPr/>
        </p:nvSpPr>
        <p:spPr>
          <a:xfrm>
            <a:off x="451789" y="4224081"/>
            <a:ext cx="9557806" cy="417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09600" indent="-609600">
              <a:buSzPct val="123000"/>
              <a:buChar char="•"/>
            </a:pPr>
            <a:r>
              <a:t>Today, we’ll focus on the inst folder</a:t>
            </a:r>
          </a:p>
          <a:p>
            <a:pPr marL="609600" indent="-609600">
              <a:buSzPct val="123000"/>
              <a:buChar char="•"/>
            </a:pPr>
            <a:r>
              <a:t>More information about the general structure can be found </a:t>
            </a:r>
            <a:r>
              <a:rPr u="sng">
                <a:solidFill>
                  <a:schemeClr val="accent1">
                    <a:lumOff val="-13575"/>
                  </a:schemeClr>
                </a:solidFill>
                <a:hlinkClick r:id="rId3" invalidUrl="" action="" tgtFrame="" tooltip="" history="1" highlightClick="0" endSnd="0"/>
              </a:rPr>
              <a:t>here</a:t>
            </a:r>
            <a:r>
              <a:t>.</a:t>
            </a:r>
          </a:p>
        </p:txBody>
      </p:sp>
      <p:sp>
        <p:nvSpPr>
          <p:cNvPr id="190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Contents</a:t>
            </a:r>
          </a:p>
        </p:txBody>
      </p:sp>
      <p:sp>
        <p:nvSpPr>
          <p:cNvPr id="193" name="General structure of a modul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4565"/>
                  </a:srgbClr>
                </a:solidFill>
              </a:defRPr>
            </a:pPr>
            <a:r>
              <a:t>General structure of a module</a:t>
            </a:r>
          </a:p>
          <a:p>
            <a:pPr marL="889000" indent="-889000">
              <a:buSzPct val="100000"/>
              <a:buAutoNum type="arabicPeriod" startAt="1"/>
            </a:pPr>
            <a:r>
              <a:t>QML files and QML coding</a:t>
            </a:r>
          </a:p>
          <a:p>
            <a:pPr lvl="1"/>
            <a:r>
              <a:t>Coding challenges</a:t>
            </a:r>
          </a:p>
        </p:txBody>
      </p:sp>
      <p:pic>
        <p:nvPicPr>
          <p:cNvPr id="194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What’s the function of the files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What’s the function of the files?</a:t>
            </a:r>
          </a:p>
        </p:txBody>
      </p:sp>
      <p:sp>
        <p:nvSpPr>
          <p:cNvPr id="198" name="inst/Description.qml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inst/Description.qml</a:t>
            </a:r>
          </a:p>
        </p:txBody>
      </p:sp>
      <p:sp>
        <p:nvSpPr>
          <p:cNvPr id="199" name="Generates the ribbon menu…"/>
          <p:cNvSpPr txBox="1"/>
          <p:nvPr>
            <p:ph type="body" sz="half" idx="1"/>
          </p:nvPr>
        </p:nvSpPr>
        <p:spPr>
          <a:xfrm>
            <a:off x="1206500" y="4248504"/>
            <a:ext cx="16160661" cy="8256012"/>
          </a:xfrm>
          <a:prstGeom prst="rect">
            <a:avLst/>
          </a:prstGeom>
        </p:spPr>
        <p:txBody>
          <a:bodyPr/>
          <a:lstStyle/>
          <a:p>
            <a:pPr/>
            <a:r>
              <a:t>Generates the ribbon menu</a:t>
            </a:r>
          </a:p>
          <a:p>
            <a:pPr/>
            <a:r>
              <a:t>Coordinates the other files to create the final analysis/module</a:t>
            </a:r>
          </a:p>
          <a:p>
            <a:pPr lvl="1"/>
            <a:r>
              <a:t>Assigns relevant R and QML files to the analyses</a:t>
            </a:r>
          </a:p>
          <a:p>
            <a:pPr/>
            <a:r>
              <a:t>Let’s consider an </a:t>
            </a:r>
            <a:r>
              <a:rPr u="sng">
                <a:solidFill>
                  <a:schemeClr val="accent1">
                    <a:lumOff val="-13575"/>
                  </a:schemeClr>
                </a:solidFill>
                <a:hlinkClick r:id="rId2" invalidUrl="" action="" tgtFrame="" tooltip="" history="1" highlightClick="0" endSnd="0"/>
              </a:rPr>
              <a:t>example</a:t>
            </a:r>
            <a:r>
              <a:t>…</a:t>
            </a:r>
          </a:p>
        </p:txBody>
      </p:sp>
      <p:pic>
        <p:nvPicPr>
          <p:cNvPr id="20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435434" y="1110615"/>
            <a:ext cx="4945695" cy="4972002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9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Objects in Description.qm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Objects in Description.qml</a:t>
            </a:r>
          </a:p>
        </p:txBody>
      </p:sp>
      <p:sp>
        <p:nvSpPr>
          <p:cNvPr id="204" name="Description…"/>
          <p:cNvSpPr txBox="1"/>
          <p:nvPr>
            <p:ph type="body" idx="1"/>
          </p:nvPr>
        </p:nvSpPr>
        <p:spPr>
          <a:xfrm>
            <a:off x="1206500" y="3069257"/>
            <a:ext cx="21971000" cy="9435259"/>
          </a:xfrm>
          <a:prstGeom prst="rect">
            <a:avLst/>
          </a:prstGeom>
        </p:spPr>
        <p:txBody>
          <a:bodyPr/>
          <a:lstStyle/>
          <a:p>
            <a:pPr/>
            <a:r>
              <a:t>Description</a:t>
            </a:r>
          </a:p>
          <a:p>
            <a:pPr lvl="1"/>
            <a:r>
              <a:t>Provides the module name, description and icon</a:t>
            </a:r>
          </a:p>
          <a:p>
            <a:pPr/>
            <a:r>
              <a:t>Analysis</a:t>
            </a:r>
          </a:p>
          <a:p>
            <a:pPr lvl="1"/>
            <a:r>
              <a:t>Name of the analysis, main R function and name of QML file for the analysis interface</a:t>
            </a:r>
          </a:p>
          <a:p>
            <a:pPr/>
            <a:r>
              <a:t>GroupTitle and Separator</a:t>
            </a:r>
          </a:p>
          <a:p>
            <a:pPr lvl="1"/>
            <a:r>
              <a:t>Specify a title and visually split your analyses</a:t>
            </a:r>
          </a:p>
        </p:txBody>
      </p:sp>
      <p:pic>
        <p:nvPicPr>
          <p:cNvPr id="205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20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hallenge (1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Challenge (1)</a:t>
            </a:r>
          </a:p>
        </p:txBody>
      </p:sp>
      <p:sp>
        <p:nvSpPr>
          <p:cNvPr id="209" name="The groundwork for your own analysi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The groundwork for your own analysis</a:t>
            </a:r>
          </a:p>
        </p:txBody>
      </p:sp>
      <p:sp>
        <p:nvSpPr>
          <p:cNvPr id="210" name="Fork the jaspModuleTemplat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Fork the </a:t>
            </a:r>
            <a:r>
              <a:rPr u="sng">
                <a:solidFill>
                  <a:schemeClr val="accent1">
                    <a:lumOff val="-13575"/>
                  </a:schemeClr>
                </a:solidFill>
                <a:hlinkClick r:id="rId2" invalidUrl="" action="" tgtFrame="" tooltip="" history="1" highlightClick="0" endSnd="0"/>
              </a:rPr>
              <a:t>jaspModuleTemplate</a:t>
            </a:r>
          </a:p>
          <a:p>
            <a:pPr/>
            <a:r>
              <a:t>Create a new analysis</a:t>
            </a:r>
          </a:p>
          <a:p>
            <a:pPr lvl="1"/>
            <a:r>
              <a:t>Don’t worry about the analysis QML files and R functions for now.</a:t>
            </a:r>
          </a:p>
          <a:p>
            <a:pPr/>
            <a:r>
              <a:t>Use a separator between the existing analyses and your new analysis</a:t>
            </a:r>
          </a:p>
          <a:p>
            <a:pPr/>
            <a:r>
              <a:t>Your analysis should be preceded by a group title</a:t>
            </a:r>
          </a:p>
        </p:txBody>
      </p:sp>
      <p:pic>
        <p:nvPicPr>
          <p:cNvPr id="211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What’s the function of the files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What’s the function of the files?</a:t>
            </a:r>
          </a:p>
        </p:txBody>
      </p:sp>
      <p:sp>
        <p:nvSpPr>
          <p:cNvPr id="215" name="inst/qml/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inst/qml/…</a:t>
            </a:r>
          </a:p>
        </p:txBody>
      </p:sp>
      <p:sp>
        <p:nvSpPr>
          <p:cNvPr id="216" name="Contains QML files for the analysis interfaces…"/>
          <p:cNvSpPr txBox="1"/>
          <p:nvPr>
            <p:ph type="body" idx="1"/>
          </p:nvPr>
        </p:nvSpPr>
        <p:spPr>
          <a:xfrm>
            <a:off x="1206500" y="4248504"/>
            <a:ext cx="22100879" cy="8256012"/>
          </a:xfrm>
          <a:prstGeom prst="rect">
            <a:avLst/>
          </a:prstGeom>
        </p:spPr>
        <p:txBody>
          <a:bodyPr/>
          <a:lstStyle/>
          <a:p>
            <a:pPr/>
            <a:r>
              <a:t>Contains QML files for the analysis interfaces</a:t>
            </a:r>
          </a:p>
          <a:p>
            <a:pPr/>
            <a:r>
              <a:t>The Description.qml file links to these filenames</a:t>
            </a:r>
          </a:p>
          <a:p>
            <a:pPr/>
            <a:r>
              <a:t>You have a lot of freedom to tailor these files to your needs</a:t>
            </a:r>
          </a:p>
        </p:txBody>
      </p:sp>
      <p:pic>
        <p:nvPicPr>
          <p:cNvPr id="217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Slide Number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How to write an analysis interface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How to write an analysis interface?</a:t>
            </a:r>
          </a:p>
        </p:txBody>
      </p:sp>
      <p:sp>
        <p:nvSpPr>
          <p:cNvPr id="221" name="First step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First steps</a:t>
            </a:r>
          </a:p>
        </p:txBody>
      </p:sp>
      <p:sp>
        <p:nvSpPr>
          <p:cNvPr id="222" name="Before you add QML components, your file needs imports……"/>
          <p:cNvSpPr txBox="1"/>
          <p:nvPr>
            <p:ph type="body" sz="half" idx="1"/>
          </p:nvPr>
        </p:nvSpPr>
        <p:spPr>
          <a:xfrm>
            <a:off x="1206500" y="4248504"/>
            <a:ext cx="14342942" cy="8256012"/>
          </a:xfrm>
          <a:prstGeom prst="rect">
            <a:avLst/>
          </a:prstGeom>
        </p:spPr>
        <p:txBody>
          <a:bodyPr/>
          <a:lstStyle/>
          <a:p>
            <a:pPr/>
            <a:r>
              <a:t>Before you add QML components, your file needs imports…</a:t>
            </a:r>
          </a:p>
          <a:p>
            <a:pPr/>
          </a:p>
          <a:p>
            <a:pPr/>
          </a:p>
          <a:p>
            <a:pPr/>
            <a:r>
              <a:t>… and a form that will contain the components</a:t>
            </a:r>
          </a:p>
          <a:p>
            <a:pPr/>
            <a:r>
              <a:t>It is also customary to copy over the copyright statement (you can find it in other files)                                   </a:t>
            </a:r>
          </a:p>
        </p:txBody>
      </p:sp>
      <p:pic>
        <p:nvPicPr>
          <p:cNvPr id="223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328670" y="6663456"/>
            <a:ext cx="5494847" cy="4912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888805" y="5415348"/>
            <a:ext cx="5029201" cy="2387601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4" grpId="3"/>
      <p:bldP build="p" bldLvl="1" animBg="1" rev="0" advAuto="0" spid="222" grpId="1"/>
      <p:bldP build="whole" bldLvl="1" animBg="1" rev="0" advAuto="0" spid="225" grpId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How to write an analysis interface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How to write an analysis interface?</a:t>
            </a:r>
          </a:p>
        </p:txBody>
      </p:sp>
      <p:sp>
        <p:nvSpPr>
          <p:cNvPr id="229" name="QML component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QML components</a:t>
            </a:r>
          </a:p>
        </p:txBody>
      </p:sp>
      <p:sp>
        <p:nvSpPr>
          <p:cNvPr id="230" name="Three class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Three classes</a:t>
            </a:r>
          </a:p>
          <a:p>
            <a:pPr lvl="1" marL="1778000" indent="-889000">
              <a:buSzPct val="100000"/>
              <a:buAutoNum type="arabicPeriod" startAt="1"/>
            </a:pPr>
            <a:r>
              <a:t>General input (e.g., CheckBox)</a:t>
            </a:r>
          </a:p>
          <a:p>
            <a:pPr lvl="1" marL="1778000" indent="-889000">
              <a:buSzPct val="100000"/>
              <a:buAutoNum type="arabicPeriod" startAt="1"/>
            </a:pPr>
            <a:r>
              <a:t>Variable assignment (e.g., AvailableVariablesList)</a:t>
            </a:r>
          </a:p>
          <a:p>
            <a:pPr lvl="1" marL="1778000" indent="-889000">
              <a:buSzPct val="100000"/>
              <a:buAutoNum type="arabicPeriod" startAt="1"/>
            </a:pPr>
            <a:r>
              <a:t>Grouping components (e.g., Section)</a:t>
            </a:r>
          </a:p>
          <a:p>
            <a:pPr/>
            <a:r>
              <a:t>A thorough guide for QML components can be found </a:t>
            </a:r>
            <a:r>
              <a:rPr u="sng">
                <a:solidFill>
                  <a:schemeClr val="accent1">
                    <a:lumOff val="-13575"/>
                  </a:schemeClr>
                </a:solidFill>
                <a:hlinkClick r:id="rId2" invalidUrl="" action="" tgtFrame="" tooltip="" history="1" highlightClick="0" endSnd="0"/>
              </a:rPr>
              <a:t>here</a:t>
            </a:r>
            <a:r>
              <a:t>.</a:t>
            </a:r>
          </a:p>
        </p:txBody>
      </p:sp>
      <p:pic>
        <p:nvPicPr>
          <p:cNvPr id="231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3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hallenge (2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168" sz="8415"/>
            </a:lvl1pPr>
          </a:lstStyle>
          <a:p>
            <a:pPr/>
            <a:r>
              <a:t>Challenge (2)</a:t>
            </a:r>
          </a:p>
        </p:txBody>
      </p:sp>
      <p:sp>
        <p:nvSpPr>
          <p:cNvPr id="235" name="Add the QML file for your analysi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Add the QML file for your analysis</a:t>
            </a:r>
          </a:p>
        </p:txBody>
      </p:sp>
      <p:sp>
        <p:nvSpPr>
          <p:cNvPr id="236" name="Add a QML file for the analysis you added previously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Add a QML file for the analysis you added previously</a:t>
            </a:r>
          </a:p>
          <a:p>
            <a:pPr/>
            <a:r>
              <a:t>Link it to the analysis through the Description.qml file</a:t>
            </a:r>
          </a:p>
          <a:p>
            <a:pPr/>
            <a:r>
              <a:t>Add a checkbox to your interface</a:t>
            </a:r>
          </a:p>
        </p:txBody>
      </p:sp>
      <p:pic>
        <p:nvPicPr>
          <p:cNvPr id="237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Google Sans Bold"/>
        <a:ea typeface="Google Sans Bold"/>
        <a:cs typeface="Google Sans Bold"/>
      </a:majorFont>
      <a:minorFont>
        <a:latin typeface="Google Sans Bold"/>
        <a:ea typeface="Google Sans Bold"/>
        <a:cs typeface="Google Sans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Regular"/>
            <a:ea typeface="Google Sans Regular"/>
            <a:cs typeface="Google Sans Regular"/>
            <a:sym typeface="Googl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Google Sans Bold"/>
        <a:ea typeface="Google Sans Bold"/>
        <a:cs typeface="Google Sans Bold"/>
      </a:majorFont>
      <a:minorFont>
        <a:latin typeface="Google Sans Bold"/>
        <a:ea typeface="Google Sans Bold"/>
        <a:cs typeface="Google Sans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oogle Sans Regular"/>
            <a:ea typeface="Google Sans Regular"/>
            <a:cs typeface="Google Sans Regular"/>
            <a:sym typeface="Google Sans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