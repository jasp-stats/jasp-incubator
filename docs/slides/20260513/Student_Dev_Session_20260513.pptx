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Bold"/>
        <a:ea typeface="Google Sans Bold"/>
        <a:cs typeface="Google Sans Bold"/>
        <a:sym typeface="Google Sans Bold"/>
      </a:defRPr>
    </a:lvl1pPr>
    <a:lvl2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Bold"/>
        <a:ea typeface="Google Sans Bold"/>
        <a:cs typeface="Google Sans Bold"/>
        <a:sym typeface="Google Sans Bold"/>
      </a:defRPr>
    </a:lvl2pPr>
    <a:lvl3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Bold"/>
        <a:ea typeface="Google Sans Bold"/>
        <a:cs typeface="Google Sans Bold"/>
        <a:sym typeface="Google Sans Bold"/>
      </a:defRPr>
    </a:lvl3pPr>
    <a:lvl4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Bold"/>
        <a:ea typeface="Google Sans Bold"/>
        <a:cs typeface="Google Sans Bold"/>
        <a:sym typeface="Google Sans Bold"/>
      </a:defRPr>
    </a:lvl4pPr>
    <a:lvl5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Bold"/>
        <a:ea typeface="Google Sans Bold"/>
        <a:cs typeface="Google Sans Bold"/>
        <a:sym typeface="Google Sans Bold"/>
      </a:defRPr>
    </a:lvl5pPr>
    <a:lvl6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Bold"/>
        <a:ea typeface="Google Sans Bold"/>
        <a:cs typeface="Google Sans Bold"/>
        <a:sym typeface="Google Sans Bold"/>
      </a:defRPr>
    </a:lvl6pPr>
    <a:lvl7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Bold"/>
        <a:ea typeface="Google Sans Bold"/>
        <a:cs typeface="Google Sans Bold"/>
        <a:sym typeface="Google Sans Bold"/>
      </a:defRPr>
    </a:lvl7pPr>
    <a:lvl8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Bold"/>
        <a:ea typeface="Google Sans Bold"/>
        <a:cs typeface="Google Sans Bold"/>
        <a:sym typeface="Google Sans Bold"/>
      </a:defRPr>
    </a:lvl8pPr>
    <a:lvl9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Bold"/>
        <a:ea typeface="Google Sans Bold"/>
        <a:cs typeface="Google Sans Bold"/>
        <a:sym typeface="Google Sans Bold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n" i="off">
        <a:font>
          <a:latin typeface="Google Sans Bold"/>
          <a:ea typeface="Google Sans Bold"/>
          <a:cs typeface="Google Sans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 b="def" i="def"/>
      <a:tcStyle>
        <a:tcBdr/>
        <a:fill>
          <a:solidFill>
            <a:srgbClr val="E6F0FF"/>
          </a:solidFill>
        </a:fill>
      </a:tcStyle>
    </a:band2H>
    <a:firstCol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n" i="off">
        <a:font>
          <a:latin typeface="Google Sans Bold"/>
          <a:ea typeface="Google Sans Bold"/>
          <a:cs typeface="Google Sans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 b="def" i="def"/>
      <a:tcStyle>
        <a:tcBdr/>
        <a:fill>
          <a:solidFill>
            <a:srgbClr val="EAF8E7"/>
          </a:solidFill>
        </a:fill>
      </a:tcStyle>
    </a:band2H>
    <a:firstCol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n" i="off">
        <a:font>
          <a:latin typeface="Google Sans Bold"/>
          <a:ea typeface="Google Sans Bold"/>
          <a:cs typeface="Google Sans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CDDF"/>
          </a:solidFill>
        </a:fill>
      </a:tcStyle>
    </a:wholeTbl>
    <a:band2H>
      <a:tcTxStyle b="def" i="def"/>
      <a:tcStyle>
        <a:tcBdr/>
        <a:fill>
          <a:solidFill>
            <a:srgbClr val="FFE8F0"/>
          </a:solidFill>
        </a:fill>
      </a:tcStyle>
    </a:band2H>
    <a:firstCol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n" i="off">
        <a:font>
          <a:latin typeface="Google Sans Bold"/>
          <a:ea typeface="Google Sans Bold"/>
          <a:cs typeface="Google Sans 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Google Sans Bold"/>
          <a:ea typeface="Google Sans Bold"/>
          <a:cs typeface="Google Sans 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n" i="off">
        <a:font>
          <a:latin typeface="Google Sans Bold"/>
          <a:ea typeface="Google Sans Bold"/>
          <a:cs typeface="Google Sans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Google Sans Bold"/>
          <a:ea typeface="Google Sans Bold"/>
          <a:cs typeface="Googl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n" i="off">
        <a:font>
          <a:latin typeface="Google Sans Bold"/>
          <a:ea typeface="Google Sans Bold"/>
          <a:cs typeface="Google Sans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Google Sans Bold"/>
          <a:ea typeface="Google Sans Bold"/>
          <a:cs typeface="Google Sans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Google Sans Bold"/>
          <a:ea typeface="Google Sans Bold"/>
          <a:cs typeface="Google Sans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Google Sans Bold"/>
          <a:ea typeface="Google Sans Bold"/>
          <a:cs typeface="Google Sans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0" name="Shape 170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/>
          <p:nvPr>
            <p:ph type="body" sz="quarter" idx="1" hasCustomPrompt="1"/>
          </p:nvPr>
        </p:nvSpPr>
        <p:spPr>
          <a:xfrm>
            <a:off x="1201340" y="11859862"/>
            <a:ext cx="21971004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3400">
                <a:latin typeface="Google Sans Bold"/>
                <a:ea typeface="Google Sans Bold"/>
                <a:cs typeface="Google Sans Bold"/>
                <a:sym typeface="Google Sans Bold"/>
              </a:defRPr>
            </a:lvl1pPr>
            <a:lvl2pPr marL="1041400" indent="-431800" defTabSz="792479">
              <a:lnSpc>
                <a:spcPct val="100000"/>
              </a:lnSpc>
              <a:spcBef>
                <a:spcPts val="0"/>
              </a:spcBef>
              <a:defRPr sz="3400">
                <a:latin typeface="Google Sans Bold"/>
                <a:ea typeface="Google Sans Bold"/>
                <a:cs typeface="Google Sans Bold"/>
                <a:sym typeface="Google Sans Bold"/>
              </a:defRPr>
            </a:lvl2pPr>
            <a:lvl3pPr marL="1651000" indent="-431800" defTabSz="792479">
              <a:lnSpc>
                <a:spcPct val="100000"/>
              </a:lnSpc>
              <a:spcBef>
                <a:spcPts val="0"/>
              </a:spcBef>
              <a:defRPr sz="3400">
                <a:latin typeface="Google Sans Bold"/>
                <a:ea typeface="Google Sans Bold"/>
                <a:cs typeface="Google Sans Bold"/>
                <a:sym typeface="Google Sans Bold"/>
              </a:defRPr>
            </a:lvl3pPr>
            <a:lvl4pPr marL="2260600" indent="-431800" defTabSz="792479">
              <a:lnSpc>
                <a:spcPct val="100000"/>
              </a:lnSpc>
              <a:spcBef>
                <a:spcPts val="0"/>
              </a:spcBef>
              <a:defRPr sz="3400">
                <a:latin typeface="Google Sans Bold"/>
                <a:ea typeface="Google Sans Bold"/>
                <a:cs typeface="Google Sans Bold"/>
                <a:sym typeface="Google Sans Bold"/>
              </a:defRPr>
            </a:lvl4pPr>
            <a:lvl5pPr marL="2870200" indent="-431800" defTabSz="792479">
              <a:lnSpc>
                <a:spcPct val="100000"/>
              </a:lnSpc>
              <a:spcBef>
                <a:spcPts val="0"/>
              </a:spcBef>
              <a:defRPr sz="3400">
                <a:latin typeface="Google Sans Bold"/>
                <a:ea typeface="Google Sans Bold"/>
                <a:cs typeface="Google Sans Bold"/>
                <a:sym typeface="Google Sans Bold"/>
              </a:defRPr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5" cy="4648202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21" hasCustomPrompt="1"/>
          </p:nvPr>
        </p:nvSpPr>
        <p:spPr>
          <a:xfrm>
            <a:off x="1201342" y="7223190"/>
            <a:ext cx="21971002" cy="1905002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Google Sans Bold"/>
                <a:ea typeface="Google Sans Bold"/>
                <a:cs typeface="Google Sans Bold"/>
                <a:sym typeface="Google Sans Bold"/>
              </a:defRPr>
            </a:lvl1pPr>
          </a:lstStyle>
          <a:p>
            <a:pPr/>
            <a:r>
              <a:t>Presentation Subtitle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07690" y="1106137"/>
            <a:ext cx="21968621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3400">
                <a:latin typeface="Google Sans Bold"/>
                <a:ea typeface="Google Sans Bold"/>
                <a:cs typeface="Google Sans Bold"/>
                <a:sym typeface="Google Sans Bold"/>
              </a:defRPr>
            </a:lvl1pPr>
            <a:lvl2pPr marL="1041400" indent="-431800" defTabSz="792479">
              <a:lnSpc>
                <a:spcPct val="100000"/>
              </a:lnSpc>
              <a:spcBef>
                <a:spcPts val="0"/>
              </a:spcBef>
              <a:defRPr sz="3400">
                <a:latin typeface="Google Sans Bold"/>
                <a:ea typeface="Google Sans Bold"/>
                <a:cs typeface="Google Sans Bold"/>
                <a:sym typeface="Google Sans Bold"/>
              </a:defRPr>
            </a:lvl2pPr>
            <a:lvl3pPr marL="1651000" indent="-431800" defTabSz="792479">
              <a:lnSpc>
                <a:spcPct val="100000"/>
              </a:lnSpc>
              <a:spcBef>
                <a:spcPts val="0"/>
              </a:spcBef>
              <a:defRPr sz="3400">
                <a:latin typeface="Google Sans Bold"/>
                <a:ea typeface="Google Sans Bold"/>
                <a:cs typeface="Google Sans Bold"/>
                <a:sym typeface="Google Sans Bold"/>
              </a:defRPr>
            </a:lvl3pPr>
            <a:lvl4pPr marL="2260600" indent="-431800" defTabSz="792479">
              <a:lnSpc>
                <a:spcPct val="100000"/>
              </a:lnSpc>
              <a:spcBef>
                <a:spcPts val="0"/>
              </a:spcBef>
              <a:defRPr sz="3400">
                <a:latin typeface="Google Sans Bold"/>
                <a:ea typeface="Google Sans Bold"/>
                <a:cs typeface="Google Sans Bold"/>
                <a:sym typeface="Google Sans Bold"/>
              </a:defRPr>
            </a:lvl4pPr>
            <a:lvl5pPr marL="2870200" indent="-431800" defTabSz="792479">
              <a:lnSpc>
                <a:spcPct val="100000"/>
              </a:lnSpc>
              <a:spcBef>
                <a:spcPts val="0"/>
              </a:spcBef>
              <a:defRPr sz="3400">
                <a:latin typeface="Google Sans Bold"/>
                <a:ea typeface="Google Sans Bold"/>
                <a:cs typeface="Google Sans Bold"/>
                <a:sym typeface="Google Sans Bold"/>
              </a:defRPr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Body Level One…"/>
          <p:cNvSpPr txBox="1"/>
          <p:nvPr>
            <p:ph type="body" sz="quarter" idx="22" hasCustomPrompt="1"/>
          </p:nvPr>
        </p:nvSpPr>
        <p:spPr>
          <a:xfrm>
            <a:off x="1206500" y="11609909"/>
            <a:ext cx="21971000" cy="1116953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Google Sans Bold"/>
                <a:ea typeface="Google Sans Bold"/>
                <a:cs typeface="Google Sans Bold"/>
                <a:sym typeface="Google Sans Bold"/>
              </a:defRPr>
            </a:lvl1pPr>
          </a:lstStyle>
          <a:p>
            <a:pPr/>
            <a:r>
              <a:t>Presentation Subtitle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4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Google Sans Bold"/>
                <a:ea typeface="Google Sans Bold"/>
                <a:cs typeface="Google Sans Bold"/>
                <a:sym typeface="Google Sans Bold"/>
              </a:defRPr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Google Sans Bold"/>
                <a:ea typeface="Google Sans Bold"/>
                <a:cs typeface="Google Sans Bold"/>
                <a:sym typeface="Google Sans Bold"/>
              </a:defRPr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Google Sans Bold"/>
                <a:ea typeface="Google Sans Bold"/>
                <a:cs typeface="Google Sans Bold"/>
                <a:sym typeface="Google Sans Bold"/>
              </a:defRPr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Google Sans Bold"/>
                <a:ea typeface="Google Sans Bold"/>
                <a:cs typeface="Google Sans Bold"/>
                <a:sym typeface="Google Sans Bold"/>
              </a:defRPr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Google Sans Bold"/>
                <a:ea typeface="Google Sans Bold"/>
                <a:cs typeface="Google Sans Bold"/>
                <a:sym typeface="Google Sans Bold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JASP logo.svg" descr="JASP logo.svg"/>
          <p:cNvPicPr>
            <a:picLocks noChangeAspect="1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3"/>
            <a:ext cx="1815396" cy="1731368"/>
          </a:xfrm>
          <a:prstGeom prst="rect">
            <a:avLst/>
          </a:prstGeom>
          <a:ln w="12700">
            <a:miter lim="400000"/>
          </a:ln>
        </p:spPr>
      </p:pic>
      <p:sp>
        <p:nvSpPr>
          <p:cNvPr id="43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4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08990">
              <a:lnSpc>
                <a:spcPct val="100000"/>
              </a:lnSpc>
              <a:spcBef>
                <a:spcPts val="0"/>
              </a:spcBef>
              <a:buSzTx/>
              <a:buNone/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1pPr>
            <a:lvl2pPr marL="12827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2pPr>
            <a:lvl3pPr marL="18923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3pPr>
            <a:lvl4pPr marL="25019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4pPr>
            <a:lvl5pPr marL="31115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4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08990">
              <a:lnSpc>
                <a:spcPct val="100000"/>
              </a:lnSpc>
              <a:spcBef>
                <a:spcPts val="0"/>
              </a:spcBef>
              <a:buSzTx/>
              <a:buNone/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1pPr>
            <a:lvl2pPr marL="12827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2pPr>
            <a:lvl3pPr marL="18923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3pPr>
            <a:lvl4pPr marL="25019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4pPr>
            <a:lvl5pPr marL="31115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63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64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08990">
              <a:lnSpc>
                <a:spcPct val="100000"/>
              </a:lnSpc>
              <a:spcBef>
                <a:spcPts val="0"/>
              </a:spcBef>
              <a:buSzTx/>
              <a:buNone/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1pPr>
            <a:lvl2pPr marL="12827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2pPr>
            <a:lvl3pPr marL="18923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3pPr>
            <a:lvl4pPr marL="25019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4pPr>
            <a:lvl5pPr marL="31115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74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08990">
              <a:lnSpc>
                <a:spcPct val="100000"/>
              </a:lnSpc>
              <a:spcBef>
                <a:spcPts val="0"/>
              </a:spcBef>
              <a:buSzTx/>
              <a:buNone/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1pPr>
            <a:lvl2pPr marL="12827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2pPr>
            <a:lvl3pPr marL="18923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3pPr>
            <a:lvl4pPr marL="25019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4pPr>
            <a:lvl5pPr marL="31115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84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5" cy="4648200"/>
          </a:xfrm>
          <a:prstGeom prst="rect">
            <a:avLst/>
          </a:prstGeom>
        </p:spPr>
        <p:txBody>
          <a:bodyPr anchor="ctr"/>
          <a:lstStyle>
            <a:lvl1pPr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5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1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08990">
              <a:lnSpc>
                <a:spcPct val="100000"/>
              </a:lnSpc>
              <a:spcBef>
                <a:spcPts val="0"/>
              </a:spcBef>
              <a:buSzTx/>
              <a:buNone/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1pPr>
            <a:lvl2pPr marL="12827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2pPr>
            <a:lvl3pPr marL="18923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3pPr>
            <a:lvl4pPr marL="25019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4pPr>
            <a:lvl5pPr marL="31115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10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08990">
              <a:lnSpc>
                <a:spcPct val="100000"/>
              </a:lnSpc>
              <a:spcBef>
                <a:spcPts val="0"/>
              </a:spcBef>
              <a:buSzTx/>
              <a:buNone/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1pPr>
            <a:lvl2pPr marL="12827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2pPr>
            <a:lvl3pPr marL="18923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3pPr>
            <a:lvl4pPr marL="25019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4pPr>
            <a:lvl5pPr marL="3111500" indent="-673100" defTabSz="808990">
              <a:lnSpc>
                <a:spcPct val="100000"/>
              </a:lnSpc>
              <a:spcBef>
                <a:spcPts val="0"/>
              </a:spcBef>
              <a:defRPr sz="5300">
                <a:latin typeface="Google Sans Bold"/>
                <a:ea typeface="Google Sans Bold"/>
                <a:cs typeface="Google Sans Bold"/>
                <a:sym typeface="Google Sans Bold"/>
              </a:defRPr>
            </a:lvl5pPr>
          </a:lstStyle>
          <a:p>
            <a:pPr/>
            <a:r>
              <a:t>Agenda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99" sz="55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Agenda Topics</a:t>
            </a:r>
          </a:p>
        </p:txBody>
      </p:sp>
      <p:sp>
        <p:nvSpPr>
          <p:cNvPr id="11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numCol="1" spcCol="38100"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Body Level One…"/>
          <p:cNvSpPr txBox="1"/>
          <p:nvPr>
            <p:ph type="body" idx="1" hasCustomPrompt="1"/>
          </p:nvPr>
        </p:nvSpPr>
        <p:spPr>
          <a:xfrm>
            <a:off x="1206500" y="1075926"/>
            <a:ext cx="21971000" cy="7241586"/>
          </a:xfrm>
          <a:prstGeom prst="rect">
            <a:avLst/>
          </a:prstGeom>
        </p:spPr>
        <p:txBody>
          <a:bodyPr numCol="1" spcCol="38100"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latin typeface="+mj-lt"/>
                <a:ea typeface="+mj-ea"/>
                <a:cs typeface="+mj-cs"/>
                <a:sym typeface="Helvetica Neue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latin typeface="+mj-lt"/>
                <a:ea typeface="+mj-ea"/>
                <a:cs typeface="+mj-cs"/>
                <a:sym typeface="Helvetica Neue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latin typeface="+mj-lt"/>
                <a:ea typeface="+mj-ea"/>
                <a:cs typeface="+mj-cs"/>
                <a:sym typeface="Helvetica Neue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latin typeface="+mj-lt"/>
                <a:ea typeface="+mj-ea"/>
                <a:cs typeface="+mj-cs"/>
                <a:sym typeface="Helvetica Neue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latin typeface="+mj-lt"/>
                <a:ea typeface="+mj-ea"/>
                <a:cs typeface="+mj-cs"/>
                <a:sym typeface="Helvetica Neue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8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Body Level One…"/>
          <p:cNvSpPr txBox="1"/>
          <p:nvPr>
            <p:ph type="body" sz="quarter" idx="1" hasCustomPrompt="1"/>
          </p:nvPr>
        </p:nvSpPr>
        <p:spPr>
          <a:xfrm>
            <a:off x="2430024" y="10675453"/>
            <a:ext cx="20200054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>
                <a:latin typeface="+mj-lt"/>
                <a:ea typeface="+mj-ea"/>
                <a:cs typeface="+mj-cs"/>
                <a:sym typeface="Helvetica Neue"/>
              </a:defRPr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>
                <a:latin typeface="+mj-lt"/>
                <a:ea typeface="+mj-ea"/>
                <a:cs typeface="+mj-cs"/>
                <a:sym typeface="Helvetica Neue"/>
              </a:defRPr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>
                <a:latin typeface="+mj-lt"/>
                <a:ea typeface="+mj-ea"/>
                <a:cs typeface="+mj-cs"/>
                <a:sym typeface="Helvetica Neue"/>
              </a:defRPr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>
                <a:latin typeface="+mj-lt"/>
                <a:ea typeface="+mj-ea"/>
                <a:cs typeface="+mj-cs"/>
                <a:sym typeface="Helvetica Neue"/>
              </a:defRPr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>
                <a:latin typeface="+mj-lt"/>
                <a:ea typeface="+mj-ea"/>
                <a:cs typeface="+mj-cs"/>
                <a:sym typeface="Helvetica Neue"/>
              </a:defRPr>
            </a:lvl5pPr>
          </a:lstStyle>
          <a:p>
            <a:pPr/>
            <a:r>
              <a:t>Attribution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Body Level One…"/>
          <p:cNvSpPr txBox="1"/>
          <p:nvPr>
            <p:ph type="body" sz="half" idx="21" hasCustomPrompt="1"/>
          </p:nvPr>
        </p:nvSpPr>
        <p:spPr>
          <a:xfrm>
            <a:off x="1753923" y="4939860"/>
            <a:ext cx="20876154" cy="3836281"/>
          </a:xfrm>
          <a:prstGeom prst="rect">
            <a:avLst/>
          </a:prstGeom>
        </p:spPr>
        <p:txBody>
          <a:bodyPr numCol="1" spcCol="38100"/>
          <a:lstStyle>
            <a:lvl1pPr marL="469900" indent="-300876">
              <a:spcBef>
                <a:spcPts val="0"/>
              </a:spcBef>
              <a:buSzTx/>
              <a:buNone/>
              <a:defRPr spc="-20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“Notable Quote”</a:t>
            </a:r>
          </a:p>
        </p:txBody>
      </p:sp>
      <p:sp>
        <p:nvSpPr>
          <p:cNvPr id="13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6" name="Bowl with salmon cakes, salad and houmo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7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/>
          <p:nvPr>
            <p:ph type="body" idx="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numCol="2" spcCol="109855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3653366" y="2743200"/>
            <a:ext cx="19507201" cy="1505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Google Sans Bold"/>
          <a:ea typeface="Google Sans Bold"/>
          <a:cs typeface="Google Sans Bold"/>
          <a:sym typeface="Google Sans Bold"/>
        </a:defRPr>
      </a:lvl1pPr>
      <a:lvl2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Google Sans Bold"/>
          <a:ea typeface="Google Sans Bold"/>
          <a:cs typeface="Google Sans Bold"/>
          <a:sym typeface="Google Sans Bold"/>
        </a:defRPr>
      </a:lvl2pPr>
      <a:lvl3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Google Sans Bold"/>
          <a:ea typeface="Google Sans Bold"/>
          <a:cs typeface="Google Sans Bold"/>
          <a:sym typeface="Google Sans Bold"/>
        </a:defRPr>
      </a:lvl3pPr>
      <a:lvl4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Google Sans Bold"/>
          <a:ea typeface="Google Sans Bold"/>
          <a:cs typeface="Google Sans Bold"/>
          <a:sym typeface="Google Sans Bold"/>
        </a:defRPr>
      </a:lvl4pPr>
      <a:lvl5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Google Sans Bold"/>
          <a:ea typeface="Google Sans Bold"/>
          <a:cs typeface="Google Sans Bold"/>
          <a:sym typeface="Google Sans Bold"/>
        </a:defRPr>
      </a:lvl5pPr>
      <a:lvl6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Google Sans Bold"/>
          <a:ea typeface="Google Sans Bold"/>
          <a:cs typeface="Google Sans Bold"/>
          <a:sym typeface="Google Sans Bold"/>
        </a:defRPr>
      </a:lvl6pPr>
      <a:lvl7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Google Sans Bold"/>
          <a:ea typeface="Google Sans Bold"/>
          <a:cs typeface="Google Sans Bold"/>
          <a:sym typeface="Google Sans Bold"/>
        </a:defRPr>
      </a:lvl7pPr>
      <a:lvl8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Google Sans Bold"/>
          <a:ea typeface="Google Sans Bold"/>
          <a:cs typeface="Google Sans Bold"/>
          <a:sym typeface="Google Sans Bold"/>
        </a:defRPr>
      </a:lvl8pPr>
      <a:lvl9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Google Sans Bold"/>
          <a:ea typeface="Google Sans Bold"/>
          <a:cs typeface="Google Sans Bold"/>
          <a:sym typeface="Google Sans Bold"/>
        </a:defRPr>
      </a:lvl9pPr>
    </p:titleStyle>
    <p:bodyStyle>
      <a:lvl1pPr marL="609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1pPr>
      <a:lvl2pPr marL="1219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2pPr>
      <a:lvl3pPr marL="1828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3pPr>
      <a:lvl4pPr marL="2438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4pPr>
      <a:lvl5pPr marL="30480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5pPr>
      <a:lvl6pPr marL="3657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6pPr>
      <a:lvl7pPr marL="4267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7pPr>
      <a:lvl8pPr marL="4876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8pPr>
      <a:lvl9pPr marL="5486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jasp-stats/jaspTools" TargetMode="Externa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julianwuth/jaspPracticeModule" TargetMode="Externa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11.02.2026                                                                                                                                      julian.wuth@student.uva.nl"/>
          <p:cNvSpPr txBox="1"/>
          <p:nvPr>
            <p:ph type="body" sz="quarter" idx="1"/>
          </p:nvPr>
        </p:nvSpPr>
        <p:spPr>
          <a:xfrm>
            <a:off x="1201341" y="11859862"/>
            <a:ext cx="21971002" cy="636980"/>
          </a:xfrm>
          <a:prstGeom prst="rect">
            <a:avLst/>
          </a:prstGeom>
        </p:spPr>
        <p:txBody>
          <a:bodyPr/>
          <a:lstStyle/>
          <a:p>
            <a:pPr/>
            <a:r>
              <a:t>13.05.2026                                                                                                                                      julian.wuth@student.uva.nl</a:t>
            </a:r>
          </a:p>
        </p:txBody>
      </p:sp>
      <p:sp>
        <p:nvSpPr>
          <p:cNvPr id="173" name="JASP Student Developers"/>
          <p:cNvSpPr txBox="1"/>
          <p:nvPr>
            <p:ph type="title"/>
          </p:nvPr>
        </p:nvSpPr>
        <p:spPr>
          <a:xfrm>
            <a:off x="1206495" y="2574991"/>
            <a:ext cx="21971006" cy="4648202"/>
          </a:xfrm>
          <a:prstGeom prst="rect">
            <a:avLst/>
          </a:prstGeom>
        </p:spPr>
        <p:txBody>
          <a:bodyPr/>
          <a:lstStyle>
            <a:lvl1pPr>
              <a:defRPr spc="-300"/>
            </a:lvl1pPr>
          </a:lstStyle>
          <a:p>
            <a:pPr/>
            <a:r>
              <a:t>JASP Student Developers</a:t>
            </a:r>
          </a:p>
        </p:txBody>
      </p:sp>
      <p:sp>
        <p:nvSpPr>
          <p:cNvPr id="174" name="Introduction to R-Coding for JASP"/>
          <p:cNvSpPr txBox="1"/>
          <p:nvPr/>
        </p:nvSpPr>
        <p:spPr>
          <a:xfrm>
            <a:off x="1201342" y="7223190"/>
            <a:ext cx="21971002" cy="1905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sz="5500"/>
            </a:lvl1pPr>
          </a:lstStyle>
          <a:p>
            <a:pPr/>
            <a:r>
              <a:t>Unit Testing for JASP Modules</a:t>
            </a:r>
          </a:p>
        </p:txBody>
      </p:sp>
      <p:pic>
        <p:nvPicPr>
          <p:cNvPr id="175" name="JASP logo.svg" descr="JASP logo.svg"/>
          <p:cNvPicPr>
            <a:picLocks noChangeAspect="1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3"/>
            <a:ext cx="1815396" cy="1731368"/>
          </a:xfrm>
          <a:prstGeom prst="rect">
            <a:avLst/>
          </a:prstGeom>
          <a:ln w="12700">
            <a:miter lim="400000"/>
          </a:ln>
        </p:spPr>
      </p:pic>
      <p:sp>
        <p:nvSpPr>
          <p:cNvPr id="176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Cont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defRPr spc="-200" sz="8400"/>
            </a:lvl1pPr>
          </a:lstStyle>
          <a:p>
            <a:pPr/>
            <a:r>
              <a:t>Contents</a:t>
            </a:r>
          </a:p>
        </p:txBody>
      </p:sp>
      <p:sp>
        <p:nvSpPr>
          <p:cNvPr id="179" name="The Main Analysis Function…"/>
          <p:cNvSpPr txBox="1"/>
          <p:nvPr>
            <p:ph type="body" idx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889000" indent="-889000" defTabSz="2438337">
              <a:lnSpc>
                <a:spcPct val="90000"/>
              </a:lnSpc>
              <a:spcBef>
                <a:spcPts val="4500"/>
              </a:spcBef>
              <a:buSzPct val="100000"/>
              <a:buAutoNum type="arabicPeriod" startAt="1"/>
              <a:defRPr sz="4800">
                <a:latin typeface="Google Sans Regular"/>
                <a:ea typeface="Google Sans Regular"/>
                <a:cs typeface="Google Sans Regular"/>
                <a:sym typeface="Google Sans Regular"/>
              </a:defRPr>
            </a:pPr>
            <a:r>
              <a:t>Introduction to unit testing in JASP</a:t>
            </a:r>
          </a:p>
          <a:p>
            <a:pPr marL="889000" indent="-889000" defTabSz="2438337">
              <a:lnSpc>
                <a:spcPct val="90000"/>
              </a:lnSpc>
              <a:spcBef>
                <a:spcPts val="4500"/>
              </a:spcBef>
              <a:buSzPct val="100000"/>
              <a:buAutoNum type="arabicPeriod" startAt="1"/>
              <a:defRPr sz="4800">
                <a:latin typeface="Google Sans Regular"/>
                <a:ea typeface="Google Sans Regular"/>
                <a:cs typeface="Google Sans Regular"/>
                <a:sym typeface="Google Sans Regular"/>
              </a:defRPr>
            </a:pPr>
            <a:r>
              <a:t>Live-Walkthrough</a:t>
            </a:r>
          </a:p>
        </p:txBody>
      </p:sp>
      <p:sp>
        <p:nvSpPr>
          <p:cNvPr id="180" name="Slide Number"/>
          <p:cNvSpPr txBox="1"/>
          <p:nvPr>
            <p:ph type="sldNum" sz="quarter" idx="4294967295"/>
          </p:nvPr>
        </p:nvSpPr>
        <p:spPr>
          <a:xfrm>
            <a:off x="12065050" y="13080998"/>
            <a:ext cx="241402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81" name="JASP logo.svg" descr="JASP logo.svg"/>
          <p:cNvPicPr>
            <a:picLocks noChangeAspect="1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3"/>
            <a:ext cx="1815396" cy="17313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Cont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defRPr spc="-200" sz="8400"/>
            </a:lvl1pPr>
          </a:lstStyle>
          <a:p>
            <a:pPr/>
            <a:r>
              <a:t>Contents</a:t>
            </a:r>
          </a:p>
        </p:txBody>
      </p:sp>
      <p:sp>
        <p:nvSpPr>
          <p:cNvPr id="184" name="The Main Analysis Function…"/>
          <p:cNvSpPr txBox="1"/>
          <p:nvPr>
            <p:ph type="body" idx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889000" indent="-889000" defTabSz="2438337">
              <a:lnSpc>
                <a:spcPct val="90000"/>
              </a:lnSpc>
              <a:spcBef>
                <a:spcPts val="4500"/>
              </a:spcBef>
              <a:buSzPct val="100000"/>
              <a:buAutoNum type="arabicPeriod" startAt="1"/>
              <a:defRPr sz="4800">
                <a:latin typeface="Google Sans Regular"/>
                <a:ea typeface="Google Sans Regular"/>
                <a:cs typeface="Google Sans Regular"/>
                <a:sym typeface="Google Sans Regular"/>
              </a:defRPr>
            </a:pPr>
            <a:r>
              <a:t>Introduction to unit testing in JASP</a:t>
            </a:r>
          </a:p>
          <a:p>
            <a:pPr marL="889000" indent="-889000" defTabSz="2438337">
              <a:lnSpc>
                <a:spcPct val="90000"/>
              </a:lnSpc>
              <a:spcBef>
                <a:spcPts val="4500"/>
              </a:spcBef>
              <a:buSzPct val="100000"/>
              <a:buAutoNum type="arabicPeriod" startAt="1"/>
              <a:defRPr sz="4800">
                <a:solidFill>
                  <a:srgbClr val="000000">
                    <a:alpha val="25000"/>
                  </a:srgbClr>
                </a:solidFill>
                <a:latin typeface="Google Sans Regular"/>
                <a:ea typeface="Google Sans Regular"/>
                <a:cs typeface="Google Sans Regular"/>
                <a:sym typeface="Google Sans Regular"/>
              </a:defRPr>
            </a:pPr>
            <a:r>
              <a:t>Live Walkthrough</a:t>
            </a:r>
          </a:p>
        </p:txBody>
      </p:sp>
      <p:sp>
        <p:nvSpPr>
          <p:cNvPr id="185" name="Slide Number"/>
          <p:cNvSpPr txBox="1"/>
          <p:nvPr>
            <p:ph type="sldNum" sz="quarter" idx="4294967295"/>
          </p:nvPr>
        </p:nvSpPr>
        <p:spPr>
          <a:xfrm>
            <a:off x="12065050" y="13080998"/>
            <a:ext cx="241402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86" name="JASP logo.svg" descr="JASP logo.svg"/>
          <p:cNvPicPr>
            <a:picLocks noChangeAspect="1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3"/>
            <a:ext cx="1815396" cy="17313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Intro to unit test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defRPr spc="-168" sz="8415"/>
            </a:lvl1pPr>
          </a:lstStyle>
          <a:p>
            <a:pPr/>
            <a:r>
              <a:t>Intro to unit testing</a:t>
            </a:r>
          </a:p>
        </p:txBody>
      </p:sp>
      <p:sp>
        <p:nvSpPr>
          <p:cNvPr id="189" name="Why unit testing?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Why unit testing?</a:t>
            </a:r>
          </a:p>
        </p:txBody>
      </p:sp>
      <p:sp>
        <p:nvSpPr>
          <p:cNvPr id="190" name="Body Level One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641684" indent="-641684">
              <a:buSzPct val="100000"/>
              <a:buAutoNum type="arabicPeriod" startAt="1"/>
            </a:pPr>
            <a:r>
              <a:t>Ensures that your code behaves as expected</a:t>
            </a:r>
          </a:p>
          <a:p>
            <a:pPr marL="641684" indent="-641684">
              <a:buSzPct val="100000"/>
              <a:buAutoNum type="arabicPeriod" startAt="1"/>
            </a:pPr>
            <a:r>
              <a:t>Fewer bugs</a:t>
            </a:r>
          </a:p>
          <a:p>
            <a:pPr marL="641684" indent="-641684">
              <a:buSzPct val="100000"/>
              <a:buAutoNum type="arabicPeriod" startAt="1"/>
            </a:pPr>
            <a:r>
              <a:t>Alerts you to unwanted changes later</a:t>
            </a:r>
          </a:p>
          <a:p>
            <a:pPr marL="641684" indent="-641684">
              <a:buSzPct val="100000"/>
              <a:buAutoNum type="arabicPeriod" startAt="1"/>
            </a:pPr>
            <a:r>
              <a:t>Shows you where your code might need restructuring</a:t>
            </a:r>
          </a:p>
          <a:p>
            <a:pPr marL="641684" indent="-641684">
              <a:buSzPct val="100000"/>
              <a:buAutoNum type="arabicPeriod" startAt="1"/>
            </a:pPr>
            <a:r>
              <a:t>Implement changes without worrying about breaking your code (robust code)</a:t>
            </a:r>
          </a:p>
        </p:txBody>
      </p:sp>
      <p:sp>
        <p:nvSpPr>
          <p:cNvPr id="191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90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Unit testing in JASP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defRPr spc="-168" sz="8415"/>
            </a:lvl1pPr>
          </a:lstStyle>
          <a:p>
            <a:pPr/>
            <a:r>
              <a:t>Unit testing in JASP</a:t>
            </a:r>
          </a:p>
        </p:txBody>
      </p:sp>
      <p:sp>
        <p:nvSpPr>
          <p:cNvPr id="194" name="Prerequisites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Prerequisites</a:t>
            </a:r>
          </a:p>
        </p:txBody>
      </p:sp>
      <p:sp>
        <p:nvSpPr>
          <p:cNvPr id="195" name="Body Level One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Having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jaspTools</a:t>
            </a:r>
            <a:r>
              <a:t> installed</a:t>
            </a:r>
          </a:p>
          <a:p>
            <a:pPr/>
            <a:r>
              <a:t>JASP tools enables you to …:</a:t>
            </a:r>
          </a:p>
          <a:p>
            <a:pPr/>
            <a:r>
              <a:t>… run JASP analyses from R</a:t>
            </a:r>
          </a:p>
          <a:p>
            <a:pPr/>
            <a:r>
              <a:t>… test JASP analyses</a:t>
            </a:r>
          </a:p>
        </p:txBody>
      </p:sp>
      <p:sp>
        <p:nvSpPr>
          <p:cNvPr id="196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Unit testing in JASP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defRPr spc="-168" sz="8415"/>
            </a:lvl1pPr>
          </a:lstStyle>
          <a:p>
            <a:pPr/>
            <a:r>
              <a:t>Unit testing in JASP</a:t>
            </a:r>
          </a:p>
        </p:txBody>
      </p:sp>
      <p:sp>
        <p:nvSpPr>
          <p:cNvPr id="199" name="Folder structure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Folder structure</a:t>
            </a:r>
          </a:p>
        </p:txBody>
      </p:sp>
      <p:sp>
        <p:nvSpPr>
          <p:cNvPr id="200" name="Body Level One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597408" indent="-597408" defTabSz="2389571">
              <a:spcBef>
                <a:spcPts val="4400"/>
              </a:spcBef>
              <a:defRPr sz="4704"/>
            </a:pPr>
            <a:r>
              <a:t>ModuleName/</a:t>
            </a:r>
          </a:p>
          <a:p>
            <a:pPr lvl="4" marL="1965157" indent="-471638" defTabSz="2389571">
              <a:spcBef>
                <a:spcPts val="4400"/>
              </a:spcBef>
              <a:buSzPct val="100000"/>
              <a:defRPr sz="4704"/>
            </a:pPr>
            <a:r>
              <a:t>tests/</a:t>
            </a:r>
          </a:p>
          <a:p>
            <a:pPr lvl="5" marL="2338538" indent="-471638" defTabSz="2389571">
              <a:spcBef>
                <a:spcPts val="4400"/>
              </a:spcBef>
              <a:buSzPct val="100000"/>
              <a:defRPr sz="4704"/>
            </a:pPr>
            <a:r>
              <a:t>testthat/</a:t>
            </a:r>
          </a:p>
          <a:p>
            <a:pPr lvl="6" marL="2711917" indent="-471638" defTabSz="2389571">
              <a:spcBef>
                <a:spcPts val="4400"/>
              </a:spcBef>
              <a:buSzPct val="100000"/>
              <a:defRPr sz="4704"/>
            </a:pPr>
            <a:r>
              <a:t>_snaps/</a:t>
            </a:r>
          </a:p>
          <a:p>
            <a:pPr lvl="6" marL="2711917" indent="-471638" defTabSz="2389571">
              <a:spcBef>
                <a:spcPts val="4400"/>
              </a:spcBef>
              <a:buSzPct val="100000"/>
              <a:defRPr sz="4704"/>
            </a:pPr>
            <a:r>
              <a:t>(jaspfiles)</a:t>
            </a:r>
          </a:p>
          <a:p>
            <a:pPr lvl="5" marL="2338538" indent="-471638" defTabSz="2389571">
              <a:spcBef>
                <a:spcPts val="4400"/>
              </a:spcBef>
              <a:buSzPct val="100000"/>
              <a:defRPr sz="4704"/>
            </a:pPr>
            <a:r>
              <a:t>testthat.R</a:t>
            </a:r>
          </a:p>
          <a:p>
            <a:pPr lvl="4" marL="1965157" indent="-471638" defTabSz="2389571">
              <a:spcBef>
                <a:spcPts val="4400"/>
              </a:spcBef>
              <a:buSzPct val="100000"/>
              <a:defRPr sz="4704"/>
            </a:pPr>
            <a:r>
              <a:t>.github/workflows/unittests.yml</a:t>
            </a:r>
          </a:p>
        </p:txBody>
      </p:sp>
      <p:sp>
        <p:nvSpPr>
          <p:cNvPr id="201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Unit testing in JASP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defRPr spc="-168" sz="8415"/>
            </a:lvl1pPr>
          </a:lstStyle>
          <a:p>
            <a:pPr/>
            <a:r>
              <a:t>Unit testing in JASP</a:t>
            </a:r>
          </a:p>
        </p:txBody>
      </p:sp>
      <p:sp>
        <p:nvSpPr>
          <p:cNvPr id="204" name="Creating a test file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Creating a test file</a:t>
            </a:r>
          </a:p>
        </p:txBody>
      </p:sp>
      <p:sp>
        <p:nvSpPr>
          <p:cNvPr id="205" name="Body Level One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Located in </a:t>
            </a:r>
            <a:r>
              <a:rPr i="1"/>
              <a:t>tests/testthat/</a:t>
            </a:r>
            <a:endParaRPr i="1"/>
          </a:p>
          <a:p>
            <a:pPr/>
            <a:r>
              <a:t>Naming convention is test-“analysisname”.R</a:t>
            </a:r>
          </a:p>
          <a:p>
            <a:pPr/>
            <a:r>
              <a:t>Every analysis has a separate test file</a:t>
            </a:r>
          </a:p>
        </p:txBody>
      </p:sp>
      <p:sp>
        <p:nvSpPr>
          <p:cNvPr id="206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Unit testing in JASP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defRPr spc="-168" sz="8415"/>
            </a:lvl1pPr>
          </a:lstStyle>
          <a:p>
            <a:pPr/>
            <a:r>
              <a:t>Unit testing in JASP</a:t>
            </a:r>
          </a:p>
        </p:txBody>
      </p:sp>
      <p:sp>
        <p:nvSpPr>
          <p:cNvPr id="209" name="Tests for tables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Tests for tables</a:t>
            </a:r>
          </a:p>
        </p:txBody>
      </p:sp>
      <p:sp>
        <p:nvSpPr>
          <p:cNvPr id="210" name="Body Level One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Use </a:t>
            </a:r>
            <a:r>
              <a:rPr>
                <a:latin typeface="Google Sans Code Regular"/>
                <a:ea typeface="Google Sans Code Regular"/>
                <a:cs typeface="Google Sans Code Regular"/>
                <a:sym typeface="Google Sans Code Regular"/>
              </a:rPr>
              <a:t>jaspTools::expect_equal_tables()</a:t>
            </a:r>
            <a:r>
              <a:t> inside </a:t>
            </a:r>
            <a:r>
              <a:rPr>
                <a:latin typeface="Google Sans Code Regular"/>
                <a:ea typeface="Google Sans Code Regular"/>
                <a:cs typeface="Google Sans Code Regular"/>
                <a:sym typeface="Google Sans Code Regular"/>
              </a:rPr>
              <a:t>testthat()</a:t>
            </a:r>
          </a:p>
          <a:p>
            <a:pPr/>
            <a:r>
              <a:rPr>
                <a:latin typeface="Google Sans Code Regular"/>
                <a:ea typeface="Google Sans Code Regular"/>
                <a:cs typeface="Google Sans Code Regular"/>
                <a:sym typeface="Google Sans Code Regular"/>
              </a:rPr>
              <a:t>expect_equal_tables()</a:t>
            </a:r>
            <a:r>
              <a:t> has 3 arguments:</a:t>
            </a:r>
          </a:p>
          <a:p>
            <a:pPr lvl="1" marL="1149684" indent="-641684">
              <a:buSzPct val="100000"/>
              <a:buAutoNum type="arabicPeriod" startAt="1"/>
            </a:pPr>
            <a:r>
              <a:t>test: The new table output to be tested</a:t>
            </a:r>
          </a:p>
          <a:p>
            <a:pPr lvl="1" marL="1149684" indent="-641684">
              <a:buSzPct val="100000"/>
              <a:buAutoNum type="arabicPeriod" startAt="1"/>
            </a:pPr>
            <a:r>
              <a:t>ref: Table snapshot to be compared to. Generated with </a:t>
            </a:r>
            <a:r>
              <a:rPr>
                <a:latin typeface="Google Sans Code Regular"/>
                <a:ea typeface="Google Sans Code Regular"/>
                <a:cs typeface="Google Sans Code Regular"/>
                <a:sym typeface="Google Sans Code Regular"/>
              </a:rPr>
              <a:t>jaspTools::makeTestTable()</a:t>
            </a:r>
          </a:p>
          <a:p>
            <a:pPr lvl="1" marL="1149684" indent="-641684">
              <a:buSzPct val="100000"/>
              <a:buAutoNum type="arabicPeriod" startAt="1"/>
            </a:pPr>
            <a:r>
              <a:t>label: Label for the expectation</a:t>
            </a:r>
          </a:p>
        </p:txBody>
      </p:sp>
      <p:sp>
        <p:nvSpPr>
          <p:cNvPr id="211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Unit testing in JASP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defRPr spc="-168" sz="8415"/>
            </a:lvl1pPr>
          </a:lstStyle>
          <a:p>
            <a:pPr/>
            <a:r>
              <a:t>Unit testing in JASP</a:t>
            </a:r>
          </a:p>
        </p:txBody>
      </p:sp>
      <p:sp>
        <p:nvSpPr>
          <p:cNvPr id="214" name="Tests for tables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Tests for tables</a:t>
            </a:r>
          </a:p>
        </p:txBody>
      </p:sp>
      <p:pic>
        <p:nvPicPr>
          <p:cNvPr id="215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54678" y="3533373"/>
            <a:ext cx="18650771" cy="39106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16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82986" y="7669650"/>
            <a:ext cx="18327608" cy="5624774"/>
          </a:xfrm>
          <a:prstGeom prst="rect">
            <a:avLst/>
          </a:prstGeom>
          <a:ln w="12700">
            <a:miter lim="400000"/>
          </a:ln>
        </p:spPr>
      </p:pic>
      <p:sp>
        <p:nvSpPr>
          <p:cNvPr id="217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Unit testing in JASP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defRPr spc="-168" sz="8415"/>
            </a:lvl1pPr>
          </a:lstStyle>
          <a:p>
            <a:pPr/>
            <a:r>
              <a:t>Unit testing in JASP</a:t>
            </a:r>
          </a:p>
        </p:txBody>
      </p:sp>
      <p:sp>
        <p:nvSpPr>
          <p:cNvPr id="220" name="Tests for plots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Tests for plots</a:t>
            </a:r>
          </a:p>
        </p:txBody>
      </p:sp>
      <p:sp>
        <p:nvSpPr>
          <p:cNvPr id="221" name="Body Level One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518160" indent="-518160" defTabSz="2072587">
              <a:spcBef>
                <a:spcPts val="3800"/>
              </a:spcBef>
              <a:defRPr sz="4080"/>
            </a:pPr>
            <a:r>
              <a:t>Use </a:t>
            </a:r>
            <a:r>
              <a:rPr>
                <a:latin typeface="Google Sans Code Regular"/>
                <a:ea typeface="Google Sans Code Regular"/>
                <a:cs typeface="Google Sans Code Regular"/>
                <a:sym typeface="Google Sans Code Regular"/>
              </a:rPr>
              <a:t>jaspTools::expect_equal_plots()</a:t>
            </a:r>
            <a:r>
              <a:t> inside </a:t>
            </a:r>
            <a:r>
              <a:rPr>
                <a:latin typeface="Google Sans Code Regular"/>
                <a:ea typeface="Google Sans Code Regular"/>
                <a:cs typeface="Google Sans Code Regular"/>
                <a:sym typeface="Google Sans Code Regular"/>
              </a:rPr>
              <a:t>testthat()</a:t>
            </a:r>
            <a:endParaRPr>
              <a:latin typeface="Google Sans Code Regular"/>
              <a:ea typeface="Google Sans Code Regular"/>
              <a:cs typeface="Google Sans Code Regular"/>
              <a:sym typeface="Google Sans Code Regular"/>
            </a:endParaRPr>
          </a:p>
          <a:p>
            <a:pPr marL="518160" indent="-518160" defTabSz="2072587">
              <a:spcBef>
                <a:spcPts val="3800"/>
              </a:spcBef>
              <a:defRPr sz="4080"/>
            </a:pPr>
            <a:r>
              <a:rPr>
                <a:latin typeface="Google Sans Code Regular"/>
                <a:ea typeface="Google Sans Code Regular"/>
                <a:cs typeface="Google Sans Code Regular"/>
                <a:sym typeface="Google Sans Code Regular"/>
              </a:rPr>
              <a:t>expect_equal_plots()</a:t>
            </a:r>
            <a:r>
              <a:t> has 2 arguments:</a:t>
            </a:r>
          </a:p>
          <a:p>
            <a:pPr lvl="1" marL="977231" indent="-545431" defTabSz="2072587">
              <a:spcBef>
                <a:spcPts val="3800"/>
              </a:spcBef>
              <a:buSzPct val="100000"/>
              <a:buAutoNum type="arabicPeriod" startAt="1"/>
              <a:defRPr sz="4080"/>
            </a:pPr>
            <a:r>
              <a:t>test: The new plot to be tested</a:t>
            </a:r>
          </a:p>
          <a:p>
            <a:pPr lvl="1" marL="977231" indent="-545431" defTabSz="2072587">
              <a:spcBef>
                <a:spcPts val="3800"/>
              </a:spcBef>
              <a:buSzPct val="100000"/>
              <a:buAutoNum type="arabicPeriod" startAt="1"/>
              <a:defRPr sz="4080"/>
            </a:pPr>
            <a:r>
              <a:t>name: Name the plot is/will be stored under in the snapshot folder</a:t>
            </a:r>
          </a:p>
          <a:p>
            <a:pPr marL="409073" indent="-409073" defTabSz="2072587">
              <a:spcBef>
                <a:spcPts val="3800"/>
              </a:spcBef>
              <a:defRPr sz="4080"/>
            </a:pPr>
            <a:r>
              <a:t>Creates an .svg file when the test is run for the first time using </a:t>
            </a:r>
            <a:r>
              <a:rPr>
                <a:latin typeface="Google Sans Code Regular"/>
                <a:ea typeface="Google Sans Code Regular"/>
                <a:cs typeface="Google Sans Code Regular"/>
                <a:sym typeface="Google Sans Code Regular"/>
              </a:rPr>
              <a:t>jaspTools::testAll()</a:t>
            </a:r>
            <a:r>
              <a:t> or </a:t>
            </a:r>
            <a:r>
              <a:rPr>
                <a:latin typeface="Google Sans Code Regular"/>
                <a:ea typeface="Google Sans Code Regular"/>
                <a:cs typeface="Google Sans Code Regular"/>
                <a:sym typeface="Google Sans Code Regular"/>
              </a:rPr>
              <a:t>jaspTools::testAnalysis()</a:t>
            </a:r>
          </a:p>
          <a:p>
            <a:pPr marL="409073" indent="-409073" defTabSz="2072587">
              <a:spcBef>
                <a:spcPts val="3800"/>
              </a:spcBef>
              <a:defRPr sz="4080"/>
            </a:pPr>
            <a:r>
              <a:t>This file serves as a reference for future tests</a:t>
            </a:r>
          </a:p>
        </p:txBody>
      </p:sp>
      <p:sp>
        <p:nvSpPr>
          <p:cNvPr id="222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Unit testing in JASP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defRPr spc="-168" sz="8415"/>
            </a:lvl1pPr>
          </a:lstStyle>
          <a:p>
            <a:pPr/>
            <a:r>
              <a:t>Unit testing in JASP</a:t>
            </a:r>
          </a:p>
        </p:txBody>
      </p:sp>
      <p:sp>
        <p:nvSpPr>
          <p:cNvPr id="225" name="Tests for plots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Tests for plots</a:t>
            </a:r>
          </a:p>
        </p:txBody>
      </p:sp>
      <p:pic>
        <p:nvPicPr>
          <p:cNvPr id="22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3856210"/>
            <a:ext cx="24384000" cy="519078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7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4012" y="9595458"/>
            <a:ext cx="24198181" cy="880392"/>
          </a:xfrm>
          <a:prstGeom prst="rect">
            <a:avLst/>
          </a:prstGeom>
          <a:ln w="12700">
            <a:miter lim="400000"/>
          </a:ln>
        </p:spPr>
      </p:pic>
      <p:sp>
        <p:nvSpPr>
          <p:cNvPr id="228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Unit testing in JASP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defRPr spc="-168" sz="8415"/>
            </a:lvl1pPr>
          </a:lstStyle>
          <a:p>
            <a:pPr/>
            <a:r>
              <a:t>Unit testing in JASP</a:t>
            </a:r>
          </a:p>
        </p:txBody>
      </p:sp>
      <p:sp>
        <p:nvSpPr>
          <p:cNvPr id="231" name="Testing error handling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Testing error handling</a:t>
            </a:r>
          </a:p>
        </p:txBody>
      </p:sp>
      <p:pic>
        <p:nvPicPr>
          <p:cNvPr id="23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95099" y="3530559"/>
            <a:ext cx="21584666" cy="8746729"/>
          </a:xfrm>
          <a:prstGeom prst="rect">
            <a:avLst/>
          </a:prstGeom>
          <a:ln w="12700">
            <a:miter lim="400000"/>
          </a:ln>
        </p:spPr>
      </p:pic>
      <p:sp>
        <p:nvSpPr>
          <p:cNvPr id="233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Unit testing in JASP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defRPr spc="-168" sz="8415"/>
            </a:lvl1pPr>
          </a:lstStyle>
          <a:p>
            <a:pPr/>
            <a:r>
              <a:t>Unit testing in JASP</a:t>
            </a:r>
          </a:p>
        </p:txBody>
      </p:sp>
      <p:sp>
        <p:nvSpPr>
          <p:cNvPr id="236" name="Creating tests automatically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Creating tests automatically</a:t>
            </a:r>
          </a:p>
        </p:txBody>
      </p:sp>
      <p:sp>
        <p:nvSpPr>
          <p:cNvPr id="237" name="Body Level One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641684" indent="-641684">
              <a:buSzPct val="100000"/>
              <a:buAutoNum type="arabicPeriod" startAt="1"/>
            </a:pPr>
            <a:r>
              <a:t>Using </a:t>
            </a:r>
            <a:r>
              <a:rPr>
                <a:latin typeface="Google Sans Code Regular"/>
                <a:ea typeface="Google Sans Code Regular"/>
                <a:cs typeface="Google Sans Code Regular"/>
                <a:sym typeface="Google Sans Code Regular"/>
              </a:rPr>
              <a:t>jaspTools::runAnalysis()</a:t>
            </a:r>
            <a:r>
              <a:t> with </a:t>
            </a:r>
            <a:r>
              <a:rPr>
                <a:latin typeface="Google Sans Code Regular"/>
                <a:ea typeface="Google Sans Code Regular"/>
                <a:cs typeface="Google Sans Code Regular"/>
                <a:sym typeface="Google Sans Code Regular"/>
              </a:rPr>
              <a:t>makeTests = TRUE</a:t>
            </a:r>
          </a:p>
          <a:p>
            <a:pPr marL="0" indent="0">
              <a:buSzTx/>
              <a:buNone/>
            </a:pPr>
          </a:p>
        </p:txBody>
      </p:sp>
      <p:pic>
        <p:nvPicPr>
          <p:cNvPr id="23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06500" y="4248503"/>
            <a:ext cx="17399388" cy="2669497"/>
          </a:xfrm>
          <a:prstGeom prst="rect">
            <a:avLst/>
          </a:prstGeom>
          <a:ln w="12700">
            <a:miter lim="400000"/>
          </a:ln>
        </p:spPr>
      </p:pic>
      <p:sp>
        <p:nvSpPr>
          <p:cNvPr id="239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Unit testing in JASP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defRPr spc="-168" sz="8415"/>
            </a:lvl1pPr>
          </a:lstStyle>
          <a:p>
            <a:pPr/>
            <a:r>
              <a:t>Unit testing in JASP</a:t>
            </a:r>
          </a:p>
        </p:txBody>
      </p:sp>
      <p:sp>
        <p:nvSpPr>
          <p:cNvPr id="242" name="Creating tests automatically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Creating tests automatically</a:t>
            </a:r>
          </a:p>
        </p:txBody>
      </p:sp>
      <p:sp>
        <p:nvSpPr>
          <p:cNvPr id="243" name="Body Level One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641684" indent="-641684">
              <a:buSzPct val="100000"/>
              <a:buAutoNum type="arabicPeriod" startAt="2"/>
            </a:pPr>
            <a:r>
              <a:t>Auto-generate from JASP file(s)</a:t>
            </a:r>
          </a:p>
          <a:p>
            <a:pPr marL="481263" indent="-481263">
              <a:buSzPct val="100000"/>
            </a:pPr>
            <a:r>
              <a:t>Move JASP files to one of:</a:t>
            </a:r>
          </a:p>
          <a:p>
            <a:pPr lvl="1" marL="862263" indent="-481263">
              <a:buSzPct val="100000"/>
              <a:defRPr i="1"/>
            </a:pPr>
            <a:r>
              <a:t>tests/testthat/jaspfiles/library/</a:t>
            </a:r>
          </a:p>
          <a:p>
            <a:pPr lvl="1" marL="862263" indent="-481263">
              <a:buSzPct val="100000"/>
              <a:defRPr i="1"/>
            </a:pPr>
            <a:r>
              <a:t>tests/testthat/jaspfiles/verified/</a:t>
            </a:r>
          </a:p>
          <a:p>
            <a:pPr lvl="1" marL="862263" indent="-481263">
              <a:buSzPct val="100000"/>
              <a:defRPr i="1"/>
            </a:pPr>
            <a:r>
              <a:t>tests/testthat/jaspfiles/other/</a:t>
            </a:r>
          </a:p>
        </p:txBody>
      </p:sp>
      <p:sp>
        <p:nvSpPr>
          <p:cNvPr id="244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Unit testing in JASP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defRPr spc="-168" sz="8415"/>
            </a:lvl1pPr>
          </a:lstStyle>
          <a:p>
            <a:pPr/>
            <a:r>
              <a:t>Unit testing in JASP</a:t>
            </a:r>
          </a:p>
        </p:txBody>
      </p:sp>
      <p:sp>
        <p:nvSpPr>
          <p:cNvPr id="247" name="Creating tests automatically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Creating tests automatically</a:t>
            </a:r>
          </a:p>
        </p:txBody>
      </p:sp>
      <p:sp>
        <p:nvSpPr>
          <p:cNvPr id="248" name="Body Level One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457200" indent="-457200" defTabSz="2316421">
              <a:spcBef>
                <a:spcPts val="4200"/>
              </a:spcBef>
              <a:buSzPct val="100000"/>
              <a:defRPr sz="4560"/>
            </a:pPr>
            <a:r>
              <a:t>Set up jaspTools and run </a:t>
            </a:r>
            <a:r>
              <a:rPr>
                <a:latin typeface="Google Sans Code Regular"/>
                <a:ea typeface="Google Sans Code Regular"/>
                <a:cs typeface="Google Sans Code Regular"/>
                <a:sym typeface="Google Sans Code Regular"/>
              </a:rPr>
              <a:t>jaspTools::makeTestsFromExamples()</a:t>
            </a:r>
            <a:endParaRPr>
              <a:latin typeface="Google Sans Code Regular"/>
              <a:ea typeface="Google Sans Code Regular"/>
              <a:cs typeface="Google Sans Code Regular"/>
              <a:sym typeface="Google Sans Code Regular"/>
            </a:endParaRPr>
          </a:p>
          <a:p>
            <a:pPr marL="0" indent="0" defTabSz="2316421">
              <a:spcBef>
                <a:spcPts val="4200"/>
              </a:spcBef>
              <a:buSzTx/>
              <a:buNone/>
              <a:defRPr sz="4560"/>
            </a:pPr>
          </a:p>
        </p:txBody>
      </p:sp>
      <p:pic>
        <p:nvPicPr>
          <p:cNvPr id="24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06499" y="4248503"/>
            <a:ext cx="20650259" cy="6651895"/>
          </a:xfrm>
          <a:prstGeom prst="rect">
            <a:avLst/>
          </a:prstGeom>
          <a:ln w="12700">
            <a:miter lim="400000"/>
          </a:ln>
        </p:spPr>
      </p:pic>
      <p:sp>
        <p:nvSpPr>
          <p:cNvPr id="250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Unit testing in JASP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defRPr spc="-168" sz="8415"/>
            </a:lvl1pPr>
          </a:lstStyle>
          <a:p>
            <a:pPr/>
            <a:r>
              <a:t>Unit testing in JASP</a:t>
            </a:r>
          </a:p>
        </p:txBody>
      </p:sp>
      <p:sp>
        <p:nvSpPr>
          <p:cNvPr id="253" name="Creating tests automatically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Creating tests automatically</a:t>
            </a:r>
          </a:p>
        </p:txBody>
      </p:sp>
      <p:sp>
        <p:nvSpPr>
          <p:cNvPr id="254" name="Body Level One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481263" indent="-481263">
              <a:buSzPct val="100000"/>
            </a:pPr>
            <a:r>
              <a:t>Finally, run </a:t>
            </a:r>
            <a:r>
              <a:rPr>
                <a:latin typeface="Google Sans Code Regular"/>
                <a:ea typeface="Google Sans Code Regular"/>
                <a:cs typeface="Google Sans Code Regular"/>
                <a:sym typeface="Google Sans Code Regular"/>
              </a:rPr>
              <a:t>jaspTools::testAll()</a:t>
            </a:r>
            <a:r>
              <a:t> to check that all tests pass</a:t>
            </a:r>
          </a:p>
        </p:txBody>
      </p:sp>
      <p:sp>
        <p:nvSpPr>
          <p:cNvPr id="255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Cont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4">
              <a:defRPr spc="-200" sz="8400"/>
            </a:lvl1pPr>
          </a:lstStyle>
          <a:p>
            <a:pPr/>
            <a:r>
              <a:t>Contents</a:t>
            </a:r>
          </a:p>
        </p:txBody>
      </p:sp>
      <p:sp>
        <p:nvSpPr>
          <p:cNvPr id="258" name="The Main Analysis Function…"/>
          <p:cNvSpPr txBox="1"/>
          <p:nvPr>
            <p:ph type="body" idx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889000" indent="-889000" defTabSz="2438337">
              <a:lnSpc>
                <a:spcPct val="90000"/>
              </a:lnSpc>
              <a:spcBef>
                <a:spcPts val="4500"/>
              </a:spcBef>
              <a:buSzPct val="100000"/>
              <a:buAutoNum type="arabicPeriod" startAt="1"/>
              <a:defRPr sz="4800">
                <a:solidFill>
                  <a:srgbClr val="000000">
                    <a:alpha val="25000"/>
                  </a:srgbClr>
                </a:solidFill>
                <a:latin typeface="Google Sans Regular"/>
                <a:ea typeface="Google Sans Regular"/>
                <a:cs typeface="Google Sans Regular"/>
                <a:sym typeface="Google Sans Regular"/>
              </a:defRPr>
            </a:pPr>
            <a:r>
              <a:t>Introduction to unit testing in JASP</a:t>
            </a:r>
          </a:p>
          <a:p>
            <a:pPr marL="889000" indent="-889000" defTabSz="2438337">
              <a:lnSpc>
                <a:spcPct val="90000"/>
              </a:lnSpc>
              <a:spcBef>
                <a:spcPts val="4500"/>
              </a:spcBef>
              <a:buSzPct val="100000"/>
              <a:buAutoNum type="arabicPeriod" startAt="1"/>
              <a:defRPr sz="4800">
                <a:latin typeface="Google Sans Regular"/>
                <a:ea typeface="Google Sans Regular"/>
                <a:cs typeface="Google Sans Regular"/>
                <a:sym typeface="Google Sans Regular"/>
              </a:defRPr>
            </a:pPr>
            <a:r>
              <a:t>Live-Walkthrough</a:t>
            </a:r>
          </a:p>
        </p:txBody>
      </p:sp>
      <p:sp>
        <p:nvSpPr>
          <p:cNvPr id="259" name="Slide Number"/>
          <p:cNvSpPr txBox="1"/>
          <p:nvPr>
            <p:ph type="sldNum" sz="quarter" idx="4294967295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60" name="JASP logo.svg" descr="JASP logo.svg"/>
          <p:cNvPicPr>
            <a:picLocks noChangeAspect="1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3"/>
            <a:ext cx="1815396" cy="17313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Live-Walkthrough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1" defTabSz="2413954">
              <a:defRPr spc="-168" sz="8415"/>
            </a:pPr>
            <a:r>
              <a:t>Live-Walkthrough</a:t>
            </a:r>
          </a:p>
        </p:txBody>
      </p:sp>
      <p:sp>
        <p:nvSpPr>
          <p:cNvPr id="263" name="Creating unit tests for JASP modules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Creating unit tests for JASP modules</a:t>
            </a:r>
          </a:p>
        </p:txBody>
      </p:sp>
      <p:sp>
        <p:nvSpPr>
          <p:cNvPr id="264" name="Body Level One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Let’s see how this works in practice</a:t>
            </a:r>
          </a:p>
          <a:p>
            <a:pPr/>
            <a:r>
              <a:t>Clone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this repo</a:t>
            </a:r>
            <a:r>
              <a:t> to follow along</a:t>
            </a:r>
          </a:p>
        </p:txBody>
      </p:sp>
      <p:sp>
        <p:nvSpPr>
          <p:cNvPr id="265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See you next time!"/>
          <p:cNvSpPr txBox="1"/>
          <p:nvPr>
            <p:ph type="title"/>
          </p:nvPr>
        </p:nvSpPr>
        <p:spPr>
          <a:xfrm>
            <a:off x="1206497" y="5626099"/>
            <a:ext cx="21971006" cy="4648202"/>
          </a:xfrm>
          <a:prstGeom prst="rect">
            <a:avLst/>
          </a:prstGeom>
        </p:spPr>
        <p:txBody>
          <a:bodyPr anchor="ctr"/>
          <a:lstStyle>
            <a:lvl1pPr algn="ctr">
              <a:defRPr spc="-209" sz="10500"/>
            </a:lvl1pPr>
          </a:lstStyle>
          <a:p>
            <a:pPr/>
            <a:r>
              <a:t>See you next time!</a:t>
            </a:r>
          </a:p>
        </p:txBody>
      </p:sp>
      <p:pic>
        <p:nvPicPr>
          <p:cNvPr id="268" name="JASP logo.svg" descr="JASP logo.svg"/>
          <p:cNvPicPr>
            <a:picLocks noChangeAspect="1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10626923" y="2345521"/>
            <a:ext cx="3384118" cy="3227480"/>
          </a:xfrm>
          <a:prstGeom prst="rect">
            <a:avLst/>
          </a:prstGeom>
          <a:ln w="12700">
            <a:miter lim="400000"/>
          </a:ln>
        </p:spPr>
      </p:pic>
      <p:sp>
        <p:nvSpPr>
          <p:cNvPr id="269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oogle Sans Bold"/>
            <a:ea typeface="Google Sans Bold"/>
            <a:cs typeface="Google Sans Bold"/>
            <a:sym typeface="Google Sans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oogle Sans Bold"/>
            <a:ea typeface="Google Sans Bold"/>
            <a:cs typeface="Google Sans Bold"/>
            <a:sym typeface="Google Sans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oogle Sans Bold"/>
            <a:ea typeface="Google Sans Bold"/>
            <a:cs typeface="Google Sans Bold"/>
            <a:sym typeface="Google Sans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oogle Sans Bold"/>
            <a:ea typeface="Google Sans Bold"/>
            <a:cs typeface="Google Sans Bold"/>
            <a:sym typeface="Google Sans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