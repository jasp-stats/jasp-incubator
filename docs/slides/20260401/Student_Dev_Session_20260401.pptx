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3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Agenda Topics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+mj-lt"/>
                <a:ea typeface="+mj-ea"/>
                <a:cs typeface="+mj-cs"/>
                <a:sym typeface="Helvetica Neue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ulianwuth/jaspPracticeModule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.02.2026                                                                                                                                      julian.wuth@student.uva.nl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01.04.2026                                                                                                                                      julian.wuth@student.uva.nl</a:t>
            </a:r>
          </a:p>
        </p:txBody>
      </p:sp>
      <p:sp>
        <p:nvSpPr>
          <p:cNvPr id="173" name="JASP Student Developers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JASP Student Developers</a:t>
            </a:r>
          </a:p>
        </p:txBody>
      </p:sp>
      <p:sp>
        <p:nvSpPr>
          <p:cNvPr id="174" name="Introduction to R-Coding for JASP"/>
          <p:cNvSpPr txBox="1"/>
          <p:nvPr/>
        </p:nvSpPr>
        <p:spPr>
          <a:xfrm>
            <a:off x="1201342" y="72231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/>
            </a:lvl1pPr>
          </a:lstStyle>
          <a:p>
            <a:pPr/>
            <a:r>
              <a:t>Coding a Module</a:t>
            </a:r>
          </a:p>
        </p:txBody>
      </p:sp>
      <p:pic>
        <p:nvPicPr>
          <p:cNvPr id="175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79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Quick recap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Coding challenge: Coding a module</a:t>
            </a:r>
          </a:p>
        </p:txBody>
      </p:sp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1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84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Quick recap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Clr>
                <a:srgbClr val="000000">
                  <a:alpha val="25000"/>
                </a:srgbClr>
              </a:buClr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Coding challenge: Coding a module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6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ap: Tab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Recap: Tables</a:t>
            </a:r>
          </a:p>
        </p:txBody>
      </p:sp>
      <p:grpSp>
        <p:nvGrpSpPr>
          <p:cNvPr id="192" name="Group"/>
          <p:cNvGrpSpPr/>
          <p:nvPr/>
        </p:nvGrpSpPr>
        <p:grpSpPr>
          <a:xfrm>
            <a:off x="8828542" y="3589558"/>
            <a:ext cx="7120018" cy="5608076"/>
            <a:chOff x="0" y="0"/>
            <a:chExt cx="7120017" cy="5608075"/>
          </a:xfrm>
        </p:grpSpPr>
        <p:sp>
          <p:nvSpPr>
            <p:cNvPr id="189" name="2"/>
            <p:cNvSpPr/>
            <p:nvPr/>
          </p:nvSpPr>
          <p:spPr>
            <a:xfrm>
              <a:off x="2936521" y="0"/>
              <a:ext cx="1270001" cy="1270000"/>
            </a:xfrm>
            <a:prstGeom prst="ellipse">
              <a:avLst/>
            </a:prstGeom>
            <a:solidFill>
              <a:srgbClr val="97C35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pPr/>
              <a:r>
                <a:t>2</a:t>
              </a:r>
            </a:p>
          </p:txBody>
        </p:sp>
        <p:sp>
          <p:nvSpPr>
            <p:cNvPr id="190" name="Add columns"/>
            <p:cNvSpPr txBox="1"/>
            <p:nvPr/>
          </p:nvSpPr>
          <p:spPr>
            <a:xfrm>
              <a:off x="0" y="1666506"/>
              <a:ext cx="7096992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/>
            </a:lstStyle>
            <a:p>
              <a:pPr/>
              <a:r>
                <a:t>Add columns</a:t>
              </a:r>
            </a:p>
          </p:txBody>
        </p:sp>
        <p:sp>
          <p:nvSpPr>
            <p:cNvPr id="191" name="Define columns with addColumnInfo() specifying name, title, and type."/>
            <p:cNvSpPr txBox="1"/>
            <p:nvPr/>
          </p:nvSpPr>
          <p:spPr>
            <a:xfrm>
              <a:off x="23025" y="2687075"/>
              <a:ext cx="7096993" cy="292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latin typeface="Google Sans Regular"/>
                  <a:ea typeface="Google Sans Regular"/>
                  <a:cs typeface="Google Sans Regular"/>
                  <a:sym typeface="Google Sans Regular"/>
                </a:defRPr>
              </a:lvl1pPr>
            </a:lstStyle>
            <a:p>
              <a:pPr/>
              <a:r>
                <a:t>Define columns with addColumnInfo() specifying name, title, and type.</a:t>
              </a:r>
            </a:p>
          </p:txBody>
        </p:sp>
      </p:grpSp>
      <p:grpSp>
        <p:nvGrpSpPr>
          <p:cNvPr id="196" name="Group"/>
          <p:cNvGrpSpPr/>
          <p:nvPr/>
        </p:nvGrpSpPr>
        <p:grpSpPr>
          <a:xfrm>
            <a:off x="17163051" y="3764183"/>
            <a:ext cx="7120019" cy="5608076"/>
            <a:chOff x="0" y="0"/>
            <a:chExt cx="7120018" cy="5608075"/>
          </a:xfrm>
        </p:grpSpPr>
        <p:sp>
          <p:nvSpPr>
            <p:cNvPr id="193" name="3"/>
            <p:cNvSpPr/>
            <p:nvPr/>
          </p:nvSpPr>
          <p:spPr>
            <a:xfrm>
              <a:off x="2936521" y="0"/>
              <a:ext cx="1270001" cy="1270000"/>
            </a:xfrm>
            <a:prstGeom prst="ellipse">
              <a:avLst/>
            </a:prstGeom>
            <a:solidFill>
              <a:srgbClr val="97C35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pPr/>
              <a:r>
                <a:t>3</a:t>
              </a:r>
            </a:p>
          </p:txBody>
        </p:sp>
        <p:sp>
          <p:nvSpPr>
            <p:cNvPr id="194" name="Add to output &amp; fill the table"/>
            <p:cNvSpPr txBox="1"/>
            <p:nvPr/>
          </p:nvSpPr>
          <p:spPr>
            <a:xfrm>
              <a:off x="0" y="1323606"/>
              <a:ext cx="7096992" cy="154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/>
            </a:lstStyle>
            <a:p>
              <a:pPr/>
              <a:r>
                <a:t>Add to output &amp; fill the table</a:t>
              </a:r>
            </a:p>
          </p:txBody>
        </p:sp>
        <p:sp>
          <p:nvSpPr>
            <p:cNvPr id="195" name="Add table to jaspResults &amp; if analysis is ready, populate table using addRows or setData."/>
            <p:cNvSpPr txBox="1"/>
            <p:nvPr/>
          </p:nvSpPr>
          <p:spPr>
            <a:xfrm>
              <a:off x="23026" y="2687075"/>
              <a:ext cx="7096993" cy="292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latin typeface="Google Sans Regular"/>
                  <a:ea typeface="Google Sans Regular"/>
                  <a:cs typeface="Google Sans Regular"/>
                  <a:sym typeface="Google Sans Regular"/>
                </a:defRPr>
              </a:lvl1pPr>
            </a:lstStyle>
            <a:p>
              <a:pPr/>
              <a:r>
                <a:t>Add table to jaspResults &amp; if analysis is ready, populate table using addRows or setData.</a:t>
              </a:r>
            </a:p>
          </p:txBody>
        </p:sp>
      </p:grpSp>
      <p:grpSp>
        <p:nvGrpSpPr>
          <p:cNvPr id="200" name="Group"/>
          <p:cNvGrpSpPr/>
          <p:nvPr/>
        </p:nvGrpSpPr>
        <p:grpSpPr>
          <a:xfrm>
            <a:off x="494032" y="3592733"/>
            <a:ext cx="7120019" cy="5601726"/>
            <a:chOff x="0" y="0"/>
            <a:chExt cx="7120017" cy="5601725"/>
          </a:xfrm>
        </p:grpSpPr>
        <p:sp>
          <p:nvSpPr>
            <p:cNvPr id="197" name="1"/>
            <p:cNvSpPr/>
            <p:nvPr/>
          </p:nvSpPr>
          <p:spPr>
            <a:xfrm>
              <a:off x="2936521" y="0"/>
              <a:ext cx="1270001" cy="1270000"/>
            </a:xfrm>
            <a:prstGeom prst="ellipse">
              <a:avLst/>
            </a:prstGeom>
            <a:solidFill>
              <a:srgbClr val="97C35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  <p:sp>
          <p:nvSpPr>
            <p:cNvPr id="198" name="Create the table"/>
            <p:cNvSpPr txBox="1"/>
            <p:nvPr/>
          </p:nvSpPr>
          <p:spPr>
            <a:xfrm>
              <a:off x="0" y="1666506"/>
              <a:ext cx="7096992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/>
            </a:lstStyle>
            <a:p>
              <a:pPr/>
              <a:r>
                <a:t>Create the table</a:t>
              </a:r>
            </a:p>
          </p:txBody>
        </p:sp>
        <p:sp>
          <p:nvSpPr>
            <p:cNvPr id="199" name="Use createJaspTable() to initialize a new JASP table object with a title."/>
            <p:cNvSpPr txBox="1"/>
            <p:nvPr/>
          </p:nvSpPr>
          <p:spPr>
            <a:xfrm>
              <a:off x="23025" y="2693425"/>
              <a:ext cx="7096993" cy="290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latin typeface="Google Sans Regular"/>
                  <a:ea typeface="Google Sans Regular"/>
                  <a:cs typeface="Google Sans Regular"/>
                  <a:sym typeface="Google Sans Regular"/>
                </a:defRPr>
              </a:lvl1pPr>
            </a:lstStyle>
            <a:p>
              <a:pPr/>
              <a:r>
                <a:t>Use createJaspTable() to initialize a new JASP table object with a title.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</p:txBody>
        </p:sp>
      </p:grpSp>
      <p:sp>
        <p:nvSpPr>
          <p:cNvPr id="201" name="ttest &lt;- createJaspTable(title = gettext(“T-Test”))…"/>
          <p:cNvSpPr/>
          <p:nvPr/>
        </p:nvSpPr>
        <p:spPr>
          <a:xfrm>
            <a:off x="873799" y="9788444"/>
            <a:ext cx="22636402" cy="3193439"/>
          </a:xfrm>
          <a:prstGeom prst="roundRect">
            <a:avLst>
              <a:gd name="adj" fmla="val 5965"/>
            </a:avLst>
          </a:prstGeom>
          <a:solidFill>
            <a:srgbClr val="53535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ttest &lt;- createJaspTable(title = gettext(“T-Test”))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ttest$addColumnInfo(name = “t”, title = gettext(“t-statistic”), type = “number”)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jaspResults[[“ttest”]] &lt;- ttest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ttest$addRows(list(t = tstat, etc. ))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t</a:t>
            </a:r>
          </a:p>
        </p:txBody>
      </p:sp>
      <p:sp>
        <p:nvSpPr>
          <p:cNvPr id="202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6" grpId="3"/>
      <p:bldP build="whole" bldLvl="1" animBg="1" rev="0" advAuto="0" spid="192" grpId="2"/>
      <p:bldP build="whole" bldLvl="1" animBg="1" rev="0" advAuto="0" spid="200" grpId="1"/>
      <p:bldP build="whole" bldLvl="1" animBg="1" rev="0" advAuto="0" spid="201" grpId="4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ap: Plo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Recap: Plots</a:t>
            </a:r>
          </a:p>
        </p:txBody>
      </p:sp>
      <p:grpSp>
        <p:nvGrpSpPr>
          <p:cNvPr id="208" name="Group"/>
          <p:cNvGrpSpPr/>
          <p:nvPr/>
        </p:nvGrpSpPr>
        <p:grpSpPr>
          <a:xfrm>
            <a:off x="8828542" y="3970558"/>
            <a:ext cx="7120018" cy="4147576"/>
            <a:chOff x="0" y="0"/>
            <a:chExt cx="7120017" cy="4147575"/>
          </a:xfrm>
        </p:grpSpPr>
        <p:sp>
          <p:nvSpPr>
            <p:cNvPr id="205" name="2"/>
            <p:cNvSpPr/>
            <p:nvPr/>
          </p:nvSpPr>
          <p:spPr>
            <a:xfrm>
              <a:off x="2936521" y="0"/>
              <a:ext cx="1270001" cy="1270000"/>
            </a:xfrm>
            <a:prstGeom prst="ellipse">
              <a:avLst/>
            </a:prstGeom>
            <a:solidFill>
              <a:srgbClr val="97C35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pPr/>
              <a:r>
                <a:t>2</a:t>
              </a:r>
            </a:p>
          </p:txBody>
        </p:sp>
        <p:sp>
          <p:nvSpPr>
            <p:cNvPr id="206" name="Assign to output"/>
            <p:cNvSpPr/>
            <p:nvPr/>
          </p:nvSpPr>
          <p:spPr>
            <a:xfrm>
              <a:off x="0" y="2098306"/>
              <a:ext cx="709699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/>
            </a:lstStyle>
            <a:p>
              <a:pPr/>
              <a:r>
                <a:t>Assign to output</a:t>
              </a:r>
            </a:p>
          </p:txBody>
        </p:sp>
        <p:sp>
          <p:nvSpPr>
            <p:cNvPr id="207" name="Assign the plot to the output."/>
            <p:cNvSpPr/>
            <p:nvPr/>
          </p:nvSpPr>
          <p:spPr>
            <a:xfrm>
              <a:off x="23025" y="4147575"/>
              <a:ext cx="709699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latin typeface="Google Sans Regular"/>
                  <a:ea typeface="Google Sans Regular"/>
                  <a:cs typeface="Google Sans Regular"/>
                  <a:sym typeface="Google Sans Regular"/>
                </a:defRPr>
              </a:lvl1pPr>
            </a:lstStyle>
            <a:p>
              <a:pPr/>
              <a:r>
                <a:t>Assign the plot to the output.</a:t>
              </a:r>
            </a:p>
          </p:txBody>
        </p:sp>
      </p:grpSp>
      <p:grpSp>
        <p:nvGrpSpPr>
          <p:cNvPr id="212" name="Group"/>
          <p:cNvGrpSpPr/>
          <p:nvPr/>
        </p:nvGrpSpPr>
        <p:grpSpPr>
          <a:xfrm>
            <a:off x="17163051" y="4145183"/>
            <a:ext cx="7120018" cy="5601726"/>
            <a:chOff x="0" y="0"/>
            <a:chExt cx="7120017" cy="5601725"/>
          </a:xfrm>
        </p:grpSpPr>
        <p:sp>
          <p:nvSpPr>
            <p:cNvPr id="209" name="3"/>
            <p:cNvSpPr/>
            <p:nvPr/>
          </p:nvSpPr>
          <p:spPr>
            <a:xfrm>
              <a:off x="2936521" y="0"/>
              <a:ext cx="1270001" cy="1270000"/>
            </a:xfrm>
            <a:prstGeom prst="ellipse">
              <a:avLst/>
            </a:prstGeom>
            <a:solidFill>
              <a:srgbClr val="97C35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pPr/>
              <a:r>
                <a:t>3</a:t>
              </a:r>
            </a:p>
          </p:txBody>
        </p:sp>
        <p:sp>
          <p:nvSpPr>
            <p:cNvPr id="210" name="Add plotObject"/>
            <p:cNvSpPr txBox="1"/>
            <p:nvPr/>
          </p:nvSpPr>
          <p:spPr>
            <a:xfrm>
              <a:off x="0" y="1666506"/>
              <a:ext cx="7096992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/>
            </a:lstStyle>
            <a:p>
              <a:pPr/>
              <a:r>
                <a:t>Add plotObject</a:t>
              </a:r>
            </a:p>
          </p:txBody>
        </p:sp>
        <p:sp>
          <p:nvSpPr>
            <p:cNvPr id="211" name="If analysis is ready, generate ggplot2 object and assign it to the plot."/>
            <p:cNvSpPr txBox="1"/>
            <p:nvPr/>
          </p:nvSpPr>
          <p:spPr>
            <a:xfrm>
              <a:off x="23025" y="2693425"/>
              <a:ext cx="7096993" cy="290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latin typeface="Google Sans Regular"/>
                  <a:ea typeface="Google Sans Regular"/>
                  <a:cs typeface="Google Sans Regular"/>
                  <a:sym typeface="Google Sans Regular"/>
                </a:defRPr>
              </a:lvl1pPr>
            </a:lstStyle>
            <a:p>
              <a:pPr/>
              <a:r>
                <a:t>If analysis is ready, generate ggplot2 object and assign it to the plot.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</p:txBody>
        </p:sp>
      </p:grpSp>
      <p:grpSp>
        <p:nvGrpSpPr>
          <p:cNvPr id="216" name="Group"/>
          <p:cNvGrpSpPr/>
          <p:nvPr/>
        </p:nvGrpSpPr>
        <p:grpSpPr>
          <a:xfrm>
            <a:off x="494032" y="3973733"/>
            <a:ext cx="7120019" cy="5608076"/>
            <a:chOff x="0" y="0"/>
            <a:chExt cx="7120017" cy="5608075"/>
          </a:xfrm>
        </p:grpSpPr>
        <p:sp>
          <p:nvSpPr>
            <p:cNvPr id="213" name="1"/>
            <p:cNvSpPr/>
            <p:nvPr/>
          </p:nvSpPr>
          <p:spPr>
            <a:xfrm>
              <a:off x="2936521" y="0"/>
              <a:ext cx="1270001" cy="1270000"/>
            </a:xfrm>
            <a:prstGeom prst="ellipse">
              <a:avLst/>
            </a:prstGeom>
            <a:solidFill>
              <a:srgbClr val="97C35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  <p:sp>
          <p:nvSpPr>
            <p:cNvPr id="214" name="Create the plots"/>
            <p:cNvSpPr txBox="1"/>
            <p:nvPr/>
          </p:nvSpPr>
          <p:spPr>
            <a:xfrm>
              <a:off x="0" y="1666506"/>
              <a:ext cx="7096992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/>
            </a:lstStyle>
            <a:p>
              <a:pPr/>
              <a:r>
                <a:t>Create the plots</a:t>
              </a:r>
            </a:p>
          </p:txBody>
        </p:sp>
        <p:sp>
          <p:nvSpPr>
            <p:cNvPr id="215" name="Use createJaspPlot() to initialize a plot object with title, width, and height."/>
            <p:cNvSpPr txBox="1"/>
            <p:nvPr/>
          </p:nvSpPr>
          <p:spPr>
            <a:xfrm>
              <a:off x="23025" y="2687075"/>
              <a:ext cx="7096993" cy="292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>
                <a:defRPr>
                  <a:latin typeface="Google Sans Regular"/>
                  <a:ea typeface="Google Sans Regular"/>
                  <a:cs typeface="Google Sans Regular"/>
                  <a:sym typeface="Google Sans Regular"/>
                </a:defRPr>
              </a:pPr>
              <a:r>
                <a:t>Use createJaspPlot() to initialize a plot object with title, width, and height.</a:t>
              </a:r>
              <a:r>
                <a:rPr sz="1200">
                  <a:latin typeface="Times Roman"/>
                  <a:ea typeface="Times Roman"/>
                  <a:cs typeface="Times Roman"/>
                  <a:sym typeface="Times Roman"/>
                </a:rPr>
                <a:t> </a:t>
              </a:r>
            </a:p>
          </p:txBody>
        </p:sp>
      </p:grpSp>
      <p:sp>
        <p:nvSpPr>
          <p:cNvPr id="217" name="histogram &lt;- createJaspPlot(title = gettext(“Histogram”))…"/>
          <p:cNvSpPr/>
          <p:nvPr/>
        </p:nvSpPr>
        <p:spPr>
          <a:xfrm>
            <a:off x="873799" y="10220621"/>
            <a:ext cx="22636402" cy="2761262"/>
          </a:xfrm>
          <a:prstGeom prst="roundRect">
            <a:avLst>
              <a:gd name="adj" fmla="val 6899"/>
            </a:avLst>
          </a:prstGeom>
          <a:solidFill>
            <a:srgbClr val="53535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histogram &lt;- createJaspPlot(title = gettext(“Histogram”))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jaspResults[[“histogram”]] &lt;- histogram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histogram$plotObject &lt;- p</a:t>
            </a: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</a:p>
          <a:p>
            <a:pPr>
              <a:spcBef>
                <a:spcPts val="1400"/>
              </a:spcBef>
              <a:defRPr sz="3000">
                <a:solidFill>
                  <a:srgbClr val="E5E5E5"/>
                </a:solidFill>
                <a:latin typeface="Google Sans Code Bold"/>
                <a:ea typeface="Google Sans Code Bold"/>
                <a:cs typeface="Google Sans Code Bold"/>
                <a:sym typeface="Google Sans Code Bold"/>
              </a:defRPr>
            </a:pPr>
            <a:r>
              <a:t>t</a:t>
            </a:r>
          </a:p>
        </p:txBody>
      </p:sp>
      <p:sp>
        <p:nvSpPr>
          <p:cNvPr id="21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6" grpId="1"/>
      <p:bldP build="whole" bldLvl="1" animBg="1" rev="0" advAuto="0" spid="212" grpId="3"/>
      <p:bldP build="whole" bldLvl="1" animBg="1" rev="0" advAuto="0" spid="208" grpId="2"/>
      <p:bldP build="whole" bldLvl="1" animBg="1" rev="0" advAuto="0" spid="217" grpId="4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221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Quick recap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Clr>
                <a:srgbClr val="000000"/>
              </a:buClr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Coding challenge: Coding a module</a:t>
            </a:r>
          </a:p>
        </p:txBody>
      </p:sp>
      <p:sp>
        <p:nvSpPr>
          <p:cNvPr id="222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3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oding Challen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Coding Challenge</a:t>
            </a:r>
          </a:p>
        </p:txBody>
      </p:sp>
      <p:sp>
        <p:nvSpPr>
          <p:cNvPr id="226" name="Coding a modu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Coding a module</a:t>
            </a:r>
          </a:p>
        </p:txBody>
      </p:sp>
      <p:sp>
        <p:nvSpPr>
          <p:cNvPr id="227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Practice coding your own module</a:t>
            </a:r>
          </a:p>
          <a:p>
            <a:pPr/>
            <a:r>
              <a:t>Clone the repo at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https://github.com/julianwuth/jaspPracticeModule</a:t>
            </a:r>
          </a:p>
          <a:p>
            <a:pPr/>
            <a:r>
              <a:t>Work on the .R and .qml files</a:t>
            </a:r>
          </a:p>
          <a:p>
            <a:pPr/>
            <a:r>
              <a:t>Solutions can be found in the </a:t>
            </a:r>
            <a:r>
              <a:rPr i="1"/>
              <a:t>solutions </a:t>
            </a:r>
            <a:r>
              <a:t>folder</a:t>
            </a:r>
          </a:p>
        </p:txBody>
      </p:sp>
      <p:sp>
        <p:nvSpPr>
          <p:cNvPr id="22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ee you next time!"/>
          <p:cNvSpPr txBox="1"/>
          <p:nvPr>
            <p:ph type="title"/>
          </p:nvPr>
        </p:nvSpPr>
        <p:spPr>
          <a:xfrm>
            <a:off x="1206497" y="5626099"/>
            <a:ext cx="21971006" cy="4648202"/>
          </a:xfrm>
          <a:prstGeom prst="rect">
            <a:avLst/>
          </a:prstGeom>
        </p:spPr>
        <p:txBody>
          <a:bodyPr anchor="ctr"/>
          <a:lstStyle>
            <a:lvl1pPr algn="ctr">
              <a:defRPr spc="-209" sz="10500"/>
            </a:lvl1pPr>
          </a:lstStyle>
          <a:p>
            <a:pPr/>
            <a:r>
              <a:t>See you next time!</a:t>
            </a:r>
          </a:p>
        </p:txBody>
      </p:sp>
      <p:pic>
        <p:nvPicPr>
          <p:cNvPr id="231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10626923" y="2345521"/>
            <a:ext cx="3384118" cy="322748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