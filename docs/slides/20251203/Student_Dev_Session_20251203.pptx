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*"/>
            </a:pPr>
            <a:r>
              <a:t>Will save time for the core developers</a:t>
            </a:r>
          </a:p>
          <a:p>
            <a:pPr marL="279400" indent="-279400">
              <a:buSzPct val="123000"/>
              <a:buChar char="*"/>
            </a:pPr>
            <a:r>
              <a:t>Create a pleasant learning environment for you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*"/>
            </a:pPr>
            <a:r>
              <a:t>3 pieces to the JASP puzzle</a:t>
            </a:r>
          </a:p>
          <a:p>
            <a:pPr marL="279400" indent="-279400">
              <a:buSzPct val="123000"/>
              <a:buChar char="*"/>
            </a:pPr>
            <a:r>
              <a:t>They all interact:</a:t>
            </a:r>
          </a:p>
          <a:p>
            <a:pPr lvl="1" marL="889000" indent="-279400">
              <a:buSzPct val="123000"/>
              <a:buChar char="*"/>
            </a:pPr>
            <a:r>
              <a:t>Interface: Select options</a:t>
            </a:r>
          </a:p>
          <a:p>
            <a:pPr lvl="1" marL="889000" indent="-279400">
              <a:buSzPct val="123000"/>
              <a:buChar char="*"/>
            </a:pPr>
            <a:r>
              <a:t>R code: Computations based on options</a:t>
            </a:r>
          </a:p>
          <a:p>
            <a:pPr lvl="1" marL="889000" indent="-279400">
              <a:buSzPct val="123000"/>
              <a:buChar char="*"/>
            </a:pPr>
            <a:r>
              <a:t>Display output</a:t>
            </a:r>
          </a:p>
          <a:p>
            <a:pPr marL="279400" indent="-279400">
              <a:buSzPct val="123000"/>
              <a:buChar char="*"/>
            </a:pPr>
            <a:r>
              <a:t>You can learn the skills to work with all of them here</a:t>
            </a:r>
          </a:p>
          <a:p>
            <a:pPr marL="279400" indent="-279400">
              <a:buSzPct val="123000"/>
              <a:buChar char="*"/>
            </a:pPr>
            <a:r>
              <a:t>Skills are also very useful for other areas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Shape 2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* Show how to find the first projects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Shape 2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*"/>
            </a:pPr>
            <a:r>
              <a:t>Searching for data sets &amp; comparing results among softwares</a:t>
            </a:r>
          </a:p>
          <a:p>
            <a:pPr marL="279400" indent="-279400">
              <a:buSzPct val="123000"/>
              <a:buChar char="*"/>
            </a:pPr>
            <a:r>
              <a:t>Verification doc, data library and unit tests </a:t>
            </a:r>
          </a:p>
          <a:p>
            <a:pPr marL="279400" indent="-279400">
              <a:buSzPct val="123000"/>
              <a:buChar char="*"/>
            </a:pPr>
            <a:r>
              <a:t>Video library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5" name="Shape 2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*"/>
            </a:pPr>
            <a:r>
              <a:t>Push/pull requires you to verify your identity </a:t>
            </a:r>
          </a:p>
          <a:p>
            <a:pPr marL="279400" indent="-279400">
              <a:buSzPct val="123000"/>
              <a:buChar char="*"/>
            </a:pPr>
            <a:r>
              <a:t>Making sure that you are allowed to edit repo</a:t>
            </a:r>
          </a:p>
          <a:p>
            <a:pPr marL="279400" indent="-279400">
              <a:buSzPct val="123000"/>
              <a:buChar char="*"/>
            </a:pPr>
            <a:r>
              <a:t>Username and password is not enough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1888520" y="12862323"/>
            <a:ext cx="594463" cy="59751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1888520" y="12862323"/>
            <a:ext cx="594463" cy="59751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888520" y="12858089"/>
            <a:ext cx="594463" cy="59751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julian.wuth@student.uva.nl" TargetMode="Externa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spreadsheets/d/1bjyAo8krge39u-pSEVm-ruDCUvhZtvPgNj8nc692t8I/edit?usp=sharing" TargetMode="External"/><Relationship Id="rId3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jasp-stats/jasp-issues/issues" TargetMode="External"/><Relationship Id="rId4" Type="http://schemas.openxmlformats.org/officeDocument/2006/relationships/hyperlink" Target="https://jasp-stats.org/2025/11/21/apply-for-the-escience-jasp-hackathon-and-build-your-own-module-in-amsterdam/" TargetMode="External"/><Relationship Id="rId5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appygitwithr.com/rstudio-see-git#rstudio-see-git" TargetMode="External"/><Relationship Id="rId3" Type="http://schemas.openxmlformats.org/officeDocument/2006/relationships/hyperlink" Target="https://posit.co/download/rstudio-desktop/" TargetMode="External"/><Relationship Id="rId4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" TargetMode="External"/><Relationship Id="rId4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happygitwithr.com/https-pat" TargetMode="External"/><Relationship Id="rId3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" TargetMode="External"/><Relationship Id="rId3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wcarpentry.github.io/git-novice/14-supplemental-rstudio.html#:~:text=option &#8220;Existing Directory&#8221;:-,CALLOUT,-DO YOU SEE" TargetMode="External"/><Relationship Id="rId3" Type="http://schemas.openxmlformats.org/officeDocument/2006/relationships/hyperlink" Target="https://happygitwithr.com/rstudio-see-git#rstudio-see-git" TargetMode="External"/><Relationship Id="rId4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03.12.2025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numCol="2" spcCol="1098550"/>
          <a:lstStyle/>
          <a:p>
            <a:pPr/>
            <a:r>
              <a:t>03.12.2025</a:t>
            </a:r>
          </a:p>
          <a:p>
            <a:pPr lvl="8" marL="0" indent="3657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pPr>
            <a:r>
              <a:rPr u="sng">
                <a:hlinkClick r:id="rId2" invalidUrl="" action="" tgtFrame="" tooltip="" history="1" highlightClick="0" endSnd="0"/>
              </a:rPr>
              <a:t>julian.wuth@student.uva.nl</a:t>
            </a:r>
          </a:p>
        </p:txBody>
      </p:sp>
      <p:sp>
        <p:nvSpPr>
          <p:cNvPr id="172" name="JASP Student Developer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JASP Student Developers</a:t>
            </a:r>
          </a:p>
        </p:txBody>
      </p:sp>
      <p:sp>
        <p:nvSpPr>
          <p:cNvPr id="173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4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177" name="General introdu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General introduction</a:t>
            </a:r>
          </a:p>
          <a:p>
            <a:pPr marL="889000" indent="-889000">
              <a:buSzPct val="100000"/>
              <a:buAutoNum type="arabicPeriod" startAt="1"/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</a:pPr>
            <a:r>
              <a:t>Potential tasks</a:t>
            </a:r>
          </a:p>
          <a:p>
            <a:pPr marL="889000" indent="-889000">
              <a:buSzPct val="100000"/>
              <a:buAutoNum type="arabicPeriod" startAt="1"/>
            </a:pPr>
            <a:r>
              <a:t>Live walk-through: Using Git from RStudio</a:t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9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182" name="General introdu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General introduction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Potential tasks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Live walk-through: Using Git from RStudio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4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Ultimate Goal"/>
          <p:cNvSpPr txBox="1"/>
          <p:nvPr>
            <p:ph type="title"/>
          </p:nvPr>
        </p:nvSpPr>
        <p:spPr>
          <a:xfrm>
            <a:off x="1206500" y="4885730"/>
            <a:ext cx="21971000" cy="1433163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Ultimate Goal</a:t>
            </a:r>
          </a:p>
        </p:txBody>
      </p:sp>
      <p:sp>
        <p:nvSpPr>
          <p:cNvPr id="187" name="Have a self-sufficient group of students who can teach each other how to contribute to JASP"/>
          <p:cNvSpPr txBox="1"/>
          <p:nvPr>
            <p:ph type="body" idx="21"/>
          </p:nvPr>
        </p:nvSpPr>
        <p:spPr>
          <a:xfrm>
            <a:off x="1206500" y="6306192"/>
            <a:ext cx="21971001" cy="2524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>
              <a:defRPr b="0"/>
            </a:lvl1pPr>
          </a:lstStyle>
          <a:p>
            <a:pPr/>
            <a:r>
              <a:t>Have a self-sufficient group of students who can teach each other how to contribute to JASP</a:t>
            </a:r>
          </a:p>
        </p:txBody>
      </p:sp>
      <p:sp>
        <p:nvSpPr>
          <p:cNvPr id="188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hese session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These sessions…</a:t>
            </a:r>
          </a:p>
        </p:txBody>
      </p:sp>
      <p:sp>
        <p:nvSpPr>
          <p:cNvPr id="193" name="… give you pointers on where to start &amp; what to do nex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… give you pointers on where to start &amp; what to do next</a:t>
            </a:r>
          </a:p>
          <a:p>
            <a:pPr/>
            <a:r>
              <a:t>… allow you to define your own goals &amp; pace</a:t>
            </a:r>
          </a:p>
          <a:p>
            <a:pPr/>
            <a:r>
              <a:t>… are a place to collaborate</a:t>
            </a:r>
          </a:p>
          <a:p>
            <a:pPr/>
            <a:r>
              <a:t>… allow you to ask questions to the experts</a:t>
            </a:r>
          </a:p>
          <a:p>
            <a:pPr/>
            <a:r>
              <a:t>… should not be another lecture</a:t>
            </a:r>
          </a:p>
        </p:txBody>
      </p:sp>
      <p:sp>
        <p:nvSpPr>
          <p:cNvPr id="194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5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We’re open for feedback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We’re open for feedback!</a:t>
            </a:r>
          </a:p>
        </p:txBody>
      </p:sp>
      <p:sp>
        <p:nvSpPr>
          <p:cNvPr id="198" name="Slide Number"/>
          <p:cNvSpPr txBox="1"/>
          <p:nvPr>
            <p:ph type="sldNum" sz="quarter" idx="2"/>
          </p:nvPr>
        </p:nvSpPr>
        <p:spPr>
          <a:xfrm>
            <a:off x="12008561" y="12862323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JASP under the hoo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JASP under the hood</a:t>
            </a:r>
          </a:p>
        </p:txBody>
      </p:sp>
      <p:sp>
        <p:nvSpPr>
          <p:cNvPr id="201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2" name="puzzle.svg" descr="puzzle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24024" y="3511943"/>
            <a:ext cx="11335952" cy="78959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JASP logo.svg" descr="JASP logo.svg"/>
          <p:cNvPicPr>
            <a:picLocks noChangeAspect="0"/>
          </p:cNvPicPr>
          <p:nvPr/>
        </p:nvPicPr>
        <p:blipFill>
          <a:blip r:embed="rId4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208" name="General introdu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General introduction</a:t>
            </a:r>
          </a:p>
          <a:p>
            <a:pPr marL="889000" indent="-889000">
              <a:buSzPct val="100000"/>
              <a:buAutoNum type="arabicPeriod" startAt="1"/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Potential tasks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Live walk-through: Using Git from RStudio</a:t>
            </a:r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0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roup nam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Group name</a:t>
            </a:r>
          </a:p>
        </p:txBody>
      </p:sp>
      <p:sp>
        <p:nvSpPr>
          <p:cNvPr id="213" name="JASP Student Developers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JASP Student Developers?</a:t>
            </a:r>
          </a:p>
          <a:p>
            <a:pPr/>
            <a:r>
              <a:t>JASP Incubator?</a:t>
            </a:r>
          </a:p>
          <a:p>
            <a:pPr/>
            <a:r>
              <a:t>Click </a:t>
            </a:r>
            <a:r>
              <a:rPr u="sng">
                <a:hlinkClick r:id="rId2" invalidUrl="" action="" tgtFrame="" tooltip="" history="1" highlightClick="0" endSnd="0"/>
              </a:rPr>
              <a:t>here</a:t>
            </a:r>
            <a:r>
              <a:t> to add your suggestion!</a:t>
            </a: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5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218" name="General introdu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General introduction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</a:pPr>
            <a:r>
              <a:t>Potential tasks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Live walk-through: Using Git from RStudio</a:t>
            </a:r>
          </a:p>
        </p:txBody>
      </p:sp>
      <p:sp>
        <p:nvSpPr>
          <p:cNvPr id="2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0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otential tas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Potential tasks</a:t>
            </a:r>
          </a:p>
        </p:txBody>
      </p:sp>
      <p:sp>
        <p:nvSpPr>
          <p:cNvPr id="223" name="Working on JASP issu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Working on </a:t>
            </a:r>
            <a:r>
              <a:rPr u="sng">
                <a:hlinkClick r:id="rId3" invalidUrl="" action="" tgtFrame="" tooltip="" history="1" highlightClick="0" endSnd="0"/>
              </a:rPr>
              <a:t>JASP issues</a:t>
            </a:r>
            <a:r>
              <a:t> </a:t>
            </a:r>
          </a:p>
          <a:p>
            <a:pPr/>
            <a:r>
              <a:t>JASP socials</a:t>
            </a:r>
          </a:p>
          <a:p>
            <a:pPr/>
            <a:r>
              <a:t>Contributing your own module</a:t>
            </a:r>
          </a:p>
          <a:p>
            <a:pPr lvl="1"/>
            <a:r>
              <a:rPr u="sng">
                <a:hlinkClick r:id="rId4" invalidUrl="" action="" tgtFrame="" tooltip="" history="1" highlightClick="0" endSnd="0"/>
              </a:rPr>
              <a:t>JASP Hackathon</a:t>
            </a:r>
            <a:r>
              <a:t> (Feb 16 - 17)</a:t>
            </a:r>
          </a:p>
          <a:p>
            <a:pPr/>
            <a:r>
              <a:t>JASP verification project</a:t>
            </a: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5" name="JASP logo.svg" descr="JASP logo.svg"/>
          <p:cNvPicPr>
            <a:picLocks noChangeAspect="0"/>
          </p:cNvPicPr>
          <p:nvPr/>
        </p:nvPicPr>
        <p:blipFill>
          <a:blip r:embed="rId5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2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Verification pro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Verification project</a:t>
            </a:r>
          </a:p>
        </p:txBody>
      </p:sp>
      <p:sp>
        <p:nvSpPr>
          <p:cNvPr id="230" name="Verifying JASP analyses through comparison with other softwar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Verifying JASP analyses through comparison with other software</a:t>
            </a:r>
          </a:p>
        </p:txBody>
      </p:sp>
      <p:sp>
        <p:nvSpPr>
          <p:cNvPr id="231" name="JASPifying two book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JASPifying two books:</a:t>
            </a:r>
          </a:p>
          <a:p>
            <a:pPr lvl="1" marL="1778000" indent="-889000">
              <a:buSzPct val="100000"/>
              <a:buAutoNum type="arabicPeriod" startAt="1"/>
            </a:pPr>
            <a:r>
              <a:t>Lean Six Sigma in a Digital Era by Theisens</a:t>
            </a:r>
          </a:p>
          <a:p>
            <a:pPr lvl="1" marL="1778000" indent="-889000">
              <a:buSzPct val="100000"/>
              <a:buAutoNum type="arabicPeriod" startAt="1"/>
            </a:pPr>
            <a:r>
              <a:t>Six Sigma in Practice by Schildmeijer &amp; Suijkerbuijk</a:t>
            </a:r>
          </a:p>
          <a:p>
            <a:pPr/>
            <a:r>
              <a:t>Reanalysing data examples in JASP (and showing them in the book)</a:t>
            </a:r>
          </a:p>
          <a:p>
            <a:pPr/>
            <a:r>
              <a:t>Concrete plans to be discussed with the firms</a:t>
            </a:r>
          </a:p>
          <a:p>
            <a:pPr lvl="1"/>
            <a:r>
              <a:t>Students may join when we visit</a:t>
            </a:r>
          </a:p>
          <a:p>
            <a:pPr/>
            <a:r>
              <a:t>If you’re interested, let me know!</a:t>
            </a:r>
          </a:p>
        </p:txBody>
      </p:sp>
      <p:sp>
        <p:nvSpPr>
          <p:cNvPr id="2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3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3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238" name="General introdu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General introduction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Potential tasks</a:t>
            </a:r>
          </a:p>
          <a:p>
            <a:pPr marL="889000" indent="-889000">
              <a:buSzPct val="100000"/>
              <a:buAutoNum type="arabicPeriod" startAt="1"/>
            </a:pPr>
            <a:r>
              <a:t>Live walk-through: Using Git from RStudio</a:t>
            </a:r>
          </a:p>
        </p:txBody>
      </p:sp>
      <p:sp>
        <p:nvSpPr>
          <p:cNvPr id="2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40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Live-Walkthroug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43" name="Using Git from RStudio"/>
          <p:cNvSpPr txBox="1"/>
          <p:nvPr>
            <p:ph type="body" idx="21"/>
          </p:nvPr>
        </p:nvSpPr>
        <p:spPr>
          <a:xfrm>
            <a:off x="1206500" y="24872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Using Git from RStudio</a:t>
            </a:r>
          </a:p>
        </p:txBody>
      </p:sp>
      <p:sp>
        <p:nvSpPr>
          <p:cNvPr id="244" name="Prerequisites:…"/>
          <p:cNvSpPr txBox="1"/>
          <p:nvPr>
            <p:ph type="body" sz="half" idx="1"/>
          </p:nvPr>
        </p:nvSpPr>
        <p:spPr>
          <a:xfrm>
            <a:off x="1206499" y="4248504"/>
            <a:ext cx="9333243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u="sng"/>
            </a:pPr>
            <a:r>
              <a:t>Prerequisites:</a:t>
            </a:r>
          </a:p>
          <a:p>
            <a:pPr/>
            <a:r>
              <a:t>Have </a:t>
            </a:r>
            <a:r>
              <a:rPr u="sng">
                <a:hlinkClick r:id="rId2" invalidUrl="" action="" tgtFrame="" tooltip="" history="1" highlightClick="0" endSnd="0"/>
              </a:rPr>
              <a:t>Git</a:t>
            </a:r>
            <a:r>
              <a:t> and </a:t>
            </a:r>
            <a:r>
              <a:rPr u="sng">
                <a:hlinkClick r:id="rId3" invalidUrl="" action="" tgtFrame="" tooltip="" history="1" highlightClick="0" endSnd="0"/>
              </a:rPr>
              <a:t>RStudio</a:t>
            </a:r>
            <a:r>
              <a:t> installed</a:t>
            </a:r>
          </a:p>
          <a:p>
            <a:pPr/>
            <a:r>
              <a:t>GitHub Account</a:t>
            </a:r>
          </a:p>
        </p:txBody>
      </p:sp>
      <p:sp>
        <p:nvSpPr>
          <p:cNvPr id="245" name="You’ll learn how to…:…"/>
          <p:cNvSpPr txBox="1"/>
          <p:nvPr/>
        </p:nvSpPr>
        <p:spPr>
          <a:xfrm>
            <a:off x="13790293" y="4248504"/>
            <a:ext cx="9719998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defRPr u="sng"/>
            </a:pPr>
            <a:r>
              <a:t>You’ll learn how to…:</a:t>
            </a:r>
          </a:p>
          <a:p>
            <a:pPr marL="609600" indent="-609600">
              <a:buSzPct val="123000"/>
              <a:buChar char="•"/>
            </a:pPr>
            <a:r>
              <a:t>Create your own repository</a:t>
            </a:r>
          </a:p>
          <a:p>
            <a:pPr marL="609600" indent="-609600">
              <a:buSzPct val="123000"/>
              <a:buChar char="•"/>
            </a:pPr>
            <a:r>
              <a:t>Clone a repo to your local device</a:t>
            </a:r>
          </a:p>
          <a:p>
            <a:pPr marL="609600" indent="-609600">
              <a:buSzPct val="123000"/>
              <a:buChar char="•"/>
            </a:pPr>
            <a:r>
              <a:t>Edit/Add files in/to repo</a:t>
            </a:r>
          </a:p>
          <a:p>
            <a:pPr marL="609600" indent="-609600">
              <a:buSzPct val="123000"/>
              <a:buChar char="•"/>
            </a:pPr>
            <a:r>
              <a:t>Commit &amp; push changes</a:t>
            </a:r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47" name="JASP logo.svg" descr="JASP logo.svg"/>
          <p:cNvPicPr>
            <a:picLocks noChangeAspect="0"/>
          </p:cNvPicPr>
          <p:nvPr/>
        </p:nvPicPr>
        <p:blipFill>
          <a:blip r:embed="rId4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4" grpId="1"/>
      <p:bldP build="p" bldLvl="5" animBg="1" rev="0" advAuto="0" spid="245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But first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But first…</a:t>
            </a:r>
          </a:p>
        </p:txBody>
      </p:sp>
      <p:sp>
        <p:nvSpPr>
          <p:cNvPr id="250" name="… you need to set up your credentials"/>
          <p:cNvSpPr txBox="1"/>
          <p:nvPr>
            <p:ph type="body" idx="21"/>
          </p:nvPr>
        </p:nvSpPr>
        <p:spPr>
          <a:xfrm>
            <a:off x="1206500" y="2695319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… you need to set up your credentials</a:t>
            </a:r>
          </a:p>
        </p:txBody>
      </p:sp>
      <p:sp>
        <p:nvSpPr>
          <p:cNvPr id="251" name="Go to https://github.com/ —&gt; Your Profile icon —&gt; Setting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 to</a:t>
            </a:r>
            <a:r>
              <a:rPr i="1"/>
              <a:t> </a:t>
            </a:r>
            <a:r>
              <a:rPr i="1" u="sng">
                <a:hlinkClick r:id="rId3" invalidUrl="" action="" tgtFrame="" tooltip="" history="1" highlightClick="0" endSnd="0"/>
              </a:rPr>
              <a:t>https://github.com/</a:t>
            </a:r>
            <a:r>
              <a:t> —&gt; </a:t>
            </a:r>
            <a:r>
              <a:rPr i="1"/>
              <a:t>Your Profile</a:t>
            </a:r>
            <a:r>
              <a:t> </a:t>
            </a:r>
            <a:r>
              <a:rPr i="1"/>
              <a:t>icon</a:t>
            </a:r>
            <a:r>
              <a:t> —&gt; </a:t>
            </a:r>
            <a:r>
              <a:rPr i="1"/>
              <a:t>Settings</a:t>
            </a:r>
          </a:p>
          <a:p>
            <a:pPr/>
            <a:r>
              <a:t>Search for </a:t>
            </a:r>
            <a:r>
              <a:rPr i="1"/>
              <a:t>Developer settings </a:t>
            </a:r>
            <a:r>
              <a:t>on the left</a:t>
            </a:r>
          </a:p>
          <a:p>
            <a:pPr/>
            <a:r>
              <a:rPr i="1"/>
              <a:t>Personal access tokens</a:t>
            </a:r>
            <a:r>
              <a:t> —&gt; </a:t>
            </a:r>
            <a:r>
              <a:rPr i="1"/>
              <a:t>Tokens (classic)</a:t>
            </a:r>
            <a:endParaRPr i="1"/>
          </a:p>
          <a:p>
            <a:pPr/>
            <a:r>
              <a:rPr i="1"/>
              <a:t>Generate new token</a:t>
            </a:r>
            <a:r>
              <a:t> —&gt; </a:t>
            </a:r>
            <a:r>
              <a:rPr i="1"/>
              <a:t>Generate new token (classic)</a:t>
            </a:r>
            <a:endParaRPr i="1"/>
          </a:p>
          <a:p>
            <a:pPr/>
            <a:r>
              <a:t>You need to check the “repo” scope to follow along</a:t>
            </a:r>
          </a:p>
          <a:p>
            <a:pPr>
              <a:defRPr b="1"/>
            </a:pPr>
            <a:r>
              <a:t>Keep this token in a safe place! </a:t>
            </a:r>
            <a:r>
              <a:rPr b="0"/>
              <a:t>(e.g., password manager)</a:t>
            </a:r>
          </a:p>
        </p:txBody>
      </p:sp>
      <p:sp>
        <p:nvSpPr>
          <p:cNvPr id="2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53" name="JASP logo.svg" descr="JASP logo.svg"/>
          <p:cNvPicPr>
            <a:picLocks noChangeAspect="0"/>
          </p:cNvPicPr>
          <p:nvPr/>
        </p:nvPicPr>
        <p:blipFill>
          <a:blip r:embed="rId4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0" grpId="1"/>
      <p:bldP build="p" bldLvl="5" animBg="1" rev="0" advAuto="0" spid="251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Open RStudio and run:…"/>
          <p:cNvSpPr txBox="1"/>
          <p:nvPr>
            <p:ph type="body" idx="1"/>
          </p:nvPr>
        </p:nvSpPr>
        <p:spPr>
          <a:xfrm>
            <a:off x="1206499" y="2729994"/>
            <a:ext cx="21971001" cy="8256012"/>
          </a:xfrm>
          <a:prstGeom prst="rect">
            <a:avLst/>
          </a:prstGeom>
        </p:spPr>
        <p:txBody>
          <a:bodyPr numCol="1" spcCol="38100"/>
          <a:lstStyle/>
          <a:p>
            <a:pPr marL="0" indent="0">
              <a:buSzTx/>
              <a:buNone/>
              <a:defRPr u="sng"/>
            </a:pPr>
            <a:r>
              <a:t>Open RStudio and run:</a:t>
            </a:r>
          </a:p>
          <a:p>
            <a:pPr marL="0" indent="0">
              <a:buSzTx/>
              <a:buNone/>
              <a:defRPr>
                <a:latin typeface="Fira Code Regular"/>
                <a:ea typeface="Fira Code Regular"/>
                <a:cs typeface="Fira Code Regular"/>
                <a:sym typeface="Fira Code Regular"/>
              </a:defRPr>
            </a:pPr>
            <a:r>
              <a:t>&gt; install.packages(“gitcreds”)</a:t>
            </a:r>
          </a:p>
          <a:p>
            <a:pPr marL="0" indent="0">
              <a:buSzTx/>
              <a:buNone/>
              <a:defRPr>
                <a:latin typeface="Fira Code Regular"/>
                <a:ea typeface="Fira Code Regular"/>
                <a:cs typeface="Fira Code Regular"/>
                <a:sym typeface="Fira Code Regular"/>
              </a:defRPr>
            </a:pPr>
            <a:r>
              <a:t>&gt; gitcreds::gitcreds_set()</a:t>
            </a:r>
          </a:p>
          <a:p>
            <a:pPr/>
            <a:r>
              <a:t>R will prompt you to enter your PAT</a:t>
            </a:r>
          </a:p>
          <a:p>
            <a:pPr/>
            <a:r>
              <a:t>You’re all set!</a:t>
            </a:r>
          </a:p>
          <a:p>
            <a:pPr/>
            <a:r>
              <a:t>For more information, click </a:t>
            </a:r>
            <a:r>
              <a:rPr u="sng">
                <a:hlinkClick r:id="rId2" invalidUrl="" action="" tgtFrame="" tooltip="" history="1" highlightClick="0" endSnd="0"/>
              </a:rPr>
              <a:t>here</a:t>
            </a:r>
            <a:r>
              <a:t>.</a:t>
            </a:r>
          </a:p>
        </p:txBody>
      </p:sp>
      <p:sp>
        <p:nvSpPr>
          <p:cNvPr id="2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59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 to https://github.com/ —&gt; Your Profile icon —&gt; Repositori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Go to</a:t>
            </a:r>
            <a:r>
              <a:rPr i="1"/>
              <a:t> </a:t>
            </a:r>
            <a:r>
              <a:rPr i="1" u="sng">
                <a:hlinkClick r:id="rId2" invalidUrl="" action="" tgtFrame="" tooltip="" history="1" highlightClick="0" endSnd="0"/>
              </a:rPr>
              <a:t>https://github.com/</a:t>
            </a:r>
            <a:r>
              <a:t> —&gt; </a:t>
            </a:r>
            <a:r>
              <a:rPr i="1"/>
              <a:t>Your Profile</a:t>
            </a:r>
            <a:r>
              <a:t> </a:t>
            </a:r>
            <a:r>
              <a:rPr i="1"/>
              <a:t>icon</a:t>
            </a:r>
            <a:r>
              <a:t> —&gt; </a:t>
            </a:r>
            <a:r>
              <a:rPr i="1"/>
              <a:t>Repositories</a:t>
            </a:r>
            <a:endParaRPr i="1"/>
          </a:p>
          <a:p>
            <a:pPr/>
            <a:r>
              <a:t>Click </a:t>
            </a:r>
            <a:r>
              <a:rPr i="1"/>
              <a:t>New </a:t>
            </a:r>
            <a:r>
              <a:t>on the top right</a:t>
            </a:r>
          </a:p>
          <a:p>
            <a:pPr/>
            <a:r>
              <a:t>Enter repo name and proceed with </a:t>
            </a:r>
            <a:r>
              <a:rPr i="1"/>
              <a:t>Create repository</a:t>
            </a:r>
          </a:p>
          <a:p>
            <a:pPr/>
            <a:r>
              <a:t>You’ll see a Quick setup section</a:t>
            </a:r>
          </a:p>
          <a:p>
            <a:pPr lvl="1"/>
            <a:r>
              <a:t>Make sure to select </a:t>
            </a:r>
            <a:r>
              <a:rPr i="1"/>
              <a:t>HTTPS </a:t>
            </a:r>
          </a:p>
          <a:p>
            <a:pPr lvl="1"/>
            <a:r>
              <a:t>Copy the link that has the form: </a:t>
            </a:r>
          </a:p>
          <a:p>
            <a:pPr lvl="1"/>
            <a:r>
              <a:rPr i="1"/>
              <a:t>https://github.com/USERNAME/REPONAME.git</a:t>
            </a:r>
          </a:p>
        </p:txBody>
      </p:sp>
      <p:sp>
        <p:nvSpPr>
          <p:cNvPr id="2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3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64" name="Create a repository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Create a repository</a:t>
            </a:r>
          </a:p>
        </p:txBody>
      </p:sp>
      <p:pic>
        <p:nvPicPr>
          <p:cNvPr id="265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Open RStudio —&gt; Project (top-right) —&gt; New Projec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Open RStudio —&gt; </a:t>
            </a:r>
            <a:r>
              <a:rPr i="1"/>
              <a:t>Project </a:t>
            </a:r>
            <a:r>
              <a:t>(top-right) —&gt; </a:t>
            </a:r>
            <a:r>
              <a:rPr i="1"/>
              <a:t>New Project</a:t>
            </a:r>
            <a:endParaRPr i="1"/>
          </a:p>
          <a:p>
            <a:pPr/>
            <a:r>
              <a:t>Select </a:t>
            </a:r>
            <a:r>
              <a:rPr i="1"/>
              <a:t>Version Control </a:t>
            </a:r>
            <a:r>
              <a:t>—&gt; </a:t>
            </a:r>
            <a:r>
              <a:rPr i="1"/>
              <a:t>Git</a:t>
            </a:r>
          </a:p>
          <a:p>
            <a:pPr lvl="1"/>
            <a:r>
              <a:t>You cannot see </a:t>
            </a:r>
            <a:r>
              <a:rPr i="1"/>
              <a:t>Version Control</a:t>
            </a:r>
            <a:r>
              <a:t>? Find help </a:t>
            </a:r>
            <a:r>
              <a:rPr u="sng">
                <a:hlinkClick r:id="rId2" invalidUrl="" action="" tgtFrame="" tooltip="" history="1" highlightClick="0" endSnd="0"/>
              </a:rPr>
              <a:t>here</a:t>
            </a:r>
            <a:r>
              <a:t> or </a:t>
            </a:r>
            <a:r>
              <a:rPr u="sng">
                <a:hlinkClick r:id="rId3" invalidUrl="" action="" tgtFrame="" tooltip="" history="1" highlightClick="0" endSnd="0"/>
              </a:rPr>
              <a:t>here</a:t>
            </a:r>
            <a:r>
              <a:t>.</a:t>
            </a:r>
          </a:p>
          <a:p>
            <a:pPr/>
            <a:r>
              <a:t>Paste the HTTPS link under </a:t>
            </a:r>
            <a:r>
              <a:rPr i="1"/>
              <a:t>Repository URL</a:t>
            </a:r>
          </a:p>
          <a:p>
            <a:pPr/>
            <a:r>
              <a:t>Enter directory name and select where to store it</a:t>
            </a:r>
          </a:p>
        </p:txBody>
      </p:sp>
      <p:sp>
        <p:nvSpPr>
          <p:cNvPr id="2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9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70" name="Clone a repository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Clone a repository</a:t>
            </a:r>
          </a:p>
        </p:txBody>
      </p:sp>
      <p:pic>
        <p:nvPicPr>
          <p:cNvPr id="271" name="JASP logo.svg" descr="JASP logo.svg"/>
          <p:cNvPicPr>
            <a:picLocks noChangeAspect="0"/>
          </p:cNvPicPr>
          <p:nvPr/>
        </p:nvPicPr>
        <p:blipFill>
          <a:blip r:embed="rId4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Implement your changes (e.g., adding a README.md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Implement your changes (e.g., adding a README.md)</a:t>
            </a:r>
          </a:p>
          <a:p>
            <a:pPr/>
            <a:r>
              <a:t>Open </a:t>
            </a:r>
            <a:r>
              <a:rPr i="1"/>
              <a:t>Git </a:t>
            </a:r>
            <a:r>
              <a:t>tab on the top-right</a:t>
            </a:r>
          </a:p>
          <a:p>
            <a:pPr/>
            <a:r>
              <a:t>Stage relevant files by checking corresponding box</a:t>
            </a:r>
          </a:p>
          <a:p>
            <a:pPr/>
            <a:r>
              <a:t>Press C</a:t>
            </a:r>
            <a:r>
              <a:rPr i="1"/>
              <a:t>ommit —&gt; </a:t>
            </a:r>
            <a:r>
              <a:t>Add message —&gt; Press </a:t>
            </a:r>
            <a:r>
              <a:rPr i="1"/>
              <a:t>Commit </a:t>
            </a:r>
            <a:r>
              <a:t>again</a:t>
            </a:r>
          </a:p>
          <a:p>
            <a:pPr/>
            <a:r>
              <a:t>Your commit should now be visible in the </a:t>
            </a:r>
            <a:r>
              <a:rPr i="1"/>
              <a:t>History</a:t>
            </a:r>
          </a:p>
          <a:p>
            <a:pPr/>
            <a:r>
              <a:t>Press </a:t>
            </a:r>
            <a:r>
              <a:rPr i="1"/>
              <a:t>Push </a:t>
            </a:r>
            <a:r>
              <a:t>to push changes to GitHub </a:t>
            </a:r>
          </a:p>
        </p:txBody>
      </p:sp>
      <p:sp>
        <p:nvSpPr>
          <p:cNvPr id="2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5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76" name="Add a file, commit &amp; push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Add a file, commit &amp; push</a:t>
            </a:r>
          </a:p>
        </p:txBody>
      </p:sp>
      <p:pic>
        <p:nvPicPr>
          <p:cNvPr id="277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You’ve created your own repo and pushed changes to it!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You’ve created your own repo and pushed changes to it!</a:t>
            </a:r>
          </a:p>
        </p:txBody>
      </p:sp>
      <p:sp>
        <p:nvSpPr>
          <p:cNvPr id="2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