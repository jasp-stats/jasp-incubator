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55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55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7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5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hyperlink" Target="https://github.com/jasp-stats/jasp-desktop/blob/development/Docs/development/r-analyses-guide.md#step-2---checking-if-results-can-be-computed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hyperlink" Target="https://github.com/jasp-stats/jasp-desktop/blob/development/Docs/development/r-analyses-guide.md#step-4---checking-for-errors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asp-stats/jasp-desktop/blob/development/Docs/development/r-analyses-guide.md#step-514---column-specification" TargetMode="External"/><Relationship Id="rId3" Type="http://schemas.openxmlformats.org/officeDocument/2006/relationships/image" Target="../media/image1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asp-stats/jasp-desktop/blob/development/Docs/development/r-analyses-guide.md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.02.2026                                                                                                                                      julian.wuth@student.uva.n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11.02.2026                                                                                                                                      julian.wuth@student.uva.nl</a:t>
            </a:r>
          </a:p>
        </p:txBody>
      </p:sp>
      <p:sp>
        <p:nvSpPr>
          <p:cNvPr id="173" name="JASP Student Developer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 Student Developers</a:t>
            </a:r>
          </a:p>
        </p:txBody>
      </p:sp>
      <p:sp>
        <p:nvSpPr>
          <p:cNvPr id="174" name="Introduction to R-Coding for JASP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 to R-Coding for JASP</a:t>
            </a:r>
          </a:p>
        </p:txBody>
      </p:sp>
      <p:pic>
        <p:nvPicPr>
          <p:cNvPr id="175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Contents</a:t>
            </a:r>
          </a:p>
        </p:txBody>
      </p:sp>
      <p:sp>
        <p:nvSpPr>
          <p:cNvPr id="178" name="The Main Analysis Fun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The Main Analysis Function</a:t>
            </a:r>
          </a:p>
          <a:p>
            <a:pPr marL="889000" indent="-889000">
              <a:buSzPct val="100000"/>
              <a:buAutoNum type="arabicPeriod" startAt="1"/>
            </a:pPr>
            <a:r>
              <a:t>Output Tables</a:t>
            </a:r>
          </a:p>
          <a:p>
            <a:pPr lvl="1"/>
            <a:r>
              <a:t>Coding challenges</a:t>
            </a:r>
          </a:p>
        </p:txBody>
      </p:sp>
      <p:sp>
        <p:nvSpPr>
          <p:cNvPr id="17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0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7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Contents</a:t>
            </a:r>
          </a:p>
        </p:txBody>
      </p:sp>
      <p:sp>
        <p:nvSpPr>
          <p:cNvPr id="183" name="The Main Analysis Fun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The Main Analysis Function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00"/>
                  </a:srgbClr>
                </a:solidFill>
              </a:defRPr>
            </a:pPr>
            <a:r>
              <a:t>Output Tables</a:t>
            </a:r>
          </a:p>
          <a:p>
            <a:pPr lvl="1">
              <a:defRPr>
                <a:solidFill>
                  <a:srgbClr val="000000">
                    <a:alpha val="25000"/>
                  </a:srgbClr>
                </a:solidFill>
              </a:defRPr>
            </a:pPr>
            <a:r>
              <a:t>Coding challenges</a:t>
            </a:r>
          </a:p>
        </p:txBody>
      </p:sp>
      <p:sp>
        <p:nvSpPr>
          <p:cNvPr id="184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5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he Main Analysis Fun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The Main Analysis Function</a:t>
            </a:r>
          </a:p>
        </p:txBody>
      </p:sp>
      <p:sp>
        <p:nvSpPr>
          <p:cNvPr id="188" name="This is the function you assign to the analysis in the Description.qml file…"/>
          <p:cNvSpPr txBox="1"/>
          <p:nvPr>
            <p:ph type="body" idx="1"/>
          </p:nvPr>
        </p:nvSpPr>
        <p:spPr>
          <a:xfrm>
            <a:off x="1206500" y="4248504"/>
            <a:ext cx="21971000" cy="8704194"/>
          </a:xfrm>
          <a:prstGeom prst="rect">
            <a:avLst/>
          </a:prstGeom>
        </p:spPr>
        <p:txBody>
          <a:bodyPr/>
          <a:lstStyle/>
          <a:p>
            <a:pPr/>
            <a:r>
              <a:t>This is the function you assign to the analysis in the Description.qml file</a:t>
            </a:r>
          </a:p>
          <a:p>
            <a:pPr/>
            <a:r>
              <a:t>Arguments:</a:t>
            </a:r>
          </a:p>
          <a:p>
            <a:pPr lvl="1"/>
            <a:r>
              <a:t>jaspResults </a:t>
            </a:r>
          </a:p>
          <a:p>
            <a:pPr lvl="2"/>
            <a:r>
              <a:t>Contains results from the analysis for the JASP output</a:t>
            </a:r>
          </a:p>
          <a:p>
            <a:pPr lvl="1"/>
            <a:r>
              <a:t>dataset </a:t>
            </a:r>
          </a:p>
          <a:p>
            <a:pPr lvl="1"/>
            <a:r>
              <a:t>options</a:t>
            </a:r>
          </a:p>
          <a:p>
            <a:pPr lvl="2"/>
            <a:r>
              <a:t>Contains interface options selected by the user</a:t>
            </a:r>
          </a:p>
        </p:txBody>
      </p:sp>
      <p:sp>
        <p:nvSpPr>
          <p:cNvPr id="18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0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4126" y="2808179"/>
            <a:ext cx="13711080" cy="11448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Dataset &amp; Op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Dataset &amp; Options</a:t>
            </a:r>
          </a:p>
        </p:txBody>
      </p:sp>
      <p:sp>
        <p:nvSpPr>
          <p:cNvPr id="194" name="What do these actually look like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do these actually look like?</a:t>
            </a:r>
          </a:p>
        </p:txBody>
      </p:sp>
      <p:sp>
        <p:nvSpPr>
          <p:cNvPr id="195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6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15561" y="3860062"/>
            <a:ext cx="13352878" cy="78735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Dataset &amp; Op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Dataset &amp; Options</a:t>
            </a:r>
          </a:p>
        </p:txBody>
      </p:sp>
      <p:sp>
        <p:nvSpPr>
          <p:cNvPr id="200" name="What do these actually look like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do these actually look like?</a:t>
            </a:r>
          </a:p>
        </p:txBody>
      </p:sp>
      <p:sp>
        <p:nvSpPr>
          <p:cNvPr id="201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2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8108" y="3668144"/>
            <a:ext cx="12027784" cy="82573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Dataset &amp; Options in 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Dataset &amp; Options in R</a:t>
            </a:r>
          </a:p>
        </p:txBody>
      </p:sp>
      <p:sp>
        <p:nvSpPr>
          <p:cNvPr id="206" name="What do these actually look like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do these actually look like?</a:t>
            </a:r>
          </a:p>
        </p:txBody>
      </p:sp>
      <p:sp>
        <p:nvSpPr>
          <p:cNvPr id="207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8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4" name="Group"/>
          <p:cNvGrpSpPr/>
          <p:nvPr/>
        </p:nvGrpSpPr>
        <p:grpSpPr>
          <a:xfrm>
            <a:off x="731988" y="3792553"/>
            <a:ext cx="12150886" cy="7695644"/>
            <a:chOff x="0" y="0"/>
            <a:chExt cx="12150885" cy="7695643"/>
          </a:xfrm>
        </p:grpSpPr>
        <p:grpSp>
          <p:nvGrpSpPr>
            <p:cNvPr id="211" name="Group"/>
            <p:cNvGrpSpPr/>
            <p:nvPr/>
          </p:nvGrpSpPr>
          <p:grpSpPr>
            <a:xfrm>
              <a:off x="0" y="0"/>
              <a:ext cx="12150886" cy="7695644"/>
              <a:chOff x="0" y="0"/>
              <a:chExt cx="12150885" cy="7695643"/>
            </a:xfrm>
          </p:grpSpPr>
          <p:pic>
            <p:nvPicPr>
              <p:cNvPr id="209" name="pasted-movie.png" descr="pasted-movie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1003244"/>
                <a:ext cx="12150886" cy="66924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10" name="options"/>
              <p:cNvSpPr txBox="1"/>
              <p:nvPr/>
            </p:nvSpPr>
            <p:spPr>
              <a:xfrm>
                <a:off x="4990812" y="-1"/>
                <a:ext cx="2169262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options</a:t>
                </a:r>
              </a:p>
            </p:txBody>
          </p:sp>
        </p:grpSp>
        <p:sp>
          <p:nvSpPr>
            <p:cNvPr id="212" name="Rectangle"/>
            <p:cNvSpPr/>
            <p:nvPr/>
          </p:nvSpPr>
          <p:spPr>
            <a:xfrm>
              <a:off x="238137" y="4855519"/>
              <a:ext cx="11674612" cy="1117619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635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13" name="Rectangle"/>
            <p:cNvSpPr/>
            <p:nvPr/>
          </p:nvSpPr>
          <p:spPr>
            <a:xfrm>
              <a:off x="238136" y="6481891"/>
              <a:ext cx="11674613" cy="11176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635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219" name="Group"/>
          <p:cNvGrpSpPr/>
          <p:nvPr/>
        </p:nvGrpSpPr>
        <p:grpSpPr>
          <a:xfrm>
            <a:off x="16252065" y="3896823"/>
            <a:ext cx="5097030" cy="6788107"/>
            <a:chOff x="0" y="0"/>
            <a:chExt cx="5097029" cy="6788106"/>
          </a:xfrm>
        </p:grpSpPr>
        <p:grpSp>
          <p:nvGrpSpPr>
            <p:cNvPr id="217" name="Group"/>
            <p:cNvGrpSpPr/>
            <p:nvPr/>
          </p:nvGrpSpPr>
          <p:grpSpPr>
            <a:xfrm>
              <a:off x="0" y="-1"/>
              <a:ext cx="5097030" cy="6788108"/>
              <a:chOff x="0" y="0"/>
              <a:chExt cx="5097029" cy="6788106"/>
            </a:xfrm>
          </p:grpSpPr>
          <p:pic>
            <p:nvPicPr>
              <p:cNvPr id="215" name="pasted-movie.png" descr="pasted-movie.png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986609"/>
                <a:ext cx="5097030" cy="580149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16" name="dataset"/>
              <p:cNvSpPr txBox="1"/>
              <p:nvPr/>
            </p:nvSpPr>
            <p:spPr>
              <a:xfrm>
                <a:off x="1426697" y="-1"/>
                <a:ext cx="2182064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dataset</a:t>
                </a:r>
              </a:p>
            </p:txBody>
          </p:sp>
        </p:grpSp>
        <p:sp>
          <p:nvSpPr>
            <p:cNvPr id="218" name="Rectangle"/>
            <p:cNvSpPr/>
            <p:nvPr/>
          </p:nvSpPr>
          <p:spPr>
            <a:xfrm>
              <a:off x="1171923" y="982324"/>
              <a:ext cx="3428063" cy="50377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635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Writing the Main R-Fun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Writing the Main R-Function</a:t>
            </a:r>
          </a:p>
        </p:txBody>
      </p:sp>
      <p:sp>
        <p:nvSpPr>
          <p:cNvPr id="222" name="Check if results can be comput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Check if results can be computed</a:t>
            </a: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29103" y="4806539"/>
            <a:ext cx="13230748" cy="50556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More information here."/>
          <p:cNvSpPr txBox="1"/>
          <p:nvPr/>
        </p:nvSpPr>
        <p:spPr>
          <a:xfrm>
            <a:off x="1349941" y="10911279"/>
            <a:ext cx="6376112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More information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4" invalidUrl="" action="" tgtFrame="" tooltip="" history="1" highlightClick="0" endSnd="0"/>
              </a:rPr>
              <a:t>here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Writing the Main R-Fun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Writing the Main R-Function</a:t>
            </a:r>
          </a:p>
        </p:txBody>
      </p:sp>
      <p:sp>
        <p:nvSpPr>
          <p:cNvPr id="229" name="Check for error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Check for errors</a:t>
            </a:r>
          </a:p>
        </p:txBody>
      </p:sp>
      <p:sp>
        <p:nvSpPr>
          <p:cNvPr id="230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3831" y="3764381"/>
            <a:ext cx="15093709" cy="6187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More information here."/>
          <p:cNvSpPr txBox="1"/>
          <p:nvPr/>
        </p:nvSpPr>
        <p:spPr>
          <a:xfrm>
            <a:off x="1349941" y="10911279"/>
            <a:ext cx="6376112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More information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4" invalidUrl="" action="" tgtFrame="" tooltip="" history="1" highlightClick="0" endSnd="0"/>
              </a:rPr>
              <a:t>here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Contents</a:t>
            </a:r>
          </a:p>
        </p:txBody>
      </p:sp>
      <p:sp>
        <p:nvSpPr>
          <p:cNvPr id="236" name="The Main Analysis Fun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00"/>
                  </a:srgbClr>
                </a:solidFill>
              </a:defRPr>
            </a:pPr>
            <a:r>
              <a:t>The Main Analysis Function</a:t>
            </a:r>
          </a:p>
          <a:p>
            <a:pPr marL="889000" indent="-889000">
              <a:buSzPct val="100000"/>
              <a:buAutoNum type="arabicPeriod" startAt="1"/>
            </a:pPr>
            <a:r>
              <a:t>Output Tables</a:t>
            </a:r>
          </a:p>
          <a:p>
            <a:pPr lvl="1"/>
            <a:r>
              <a:t>Coding challenges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8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Writing the Main R-Fun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Writing the Main R-Function</a:t>
            </a:r>
          </a:p>
        </p:txBody>
      </p:sp>
      <p:sp>
        <p:nvSpPr>
          <p:cNvPr id="241" name="Output tabl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Output tables</a:t>
            </a:r>
          </a:p>
        </p:txBody>
      </p:sp>
      <p:pic>
        <p:nvPicPr>
          <p:cNvPr id="242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Create tabl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Create table</a:t>
            </a:r>
          </a:p>
          <a:p>
            <a:pPr marL="889000" indent="-889000">
              <a:buSzPct val="100000"/>
              <a:buAutoNum type="arabicPeriod" startAt="1"/>
            </a:pPr>
            <a:r>
              <a:t>Adding table to the output</a:t>
            </a:r>
          </a:p>
          <a:p>
            <a:pPr marL="889000" indent="-889000">
              <a:buSzPct val="100000"/>
              <a:buAutoNum type="arabicPeriod" startAt="1"/>
            </a:pPr>
            <a:r>
              <a:t>Filling the table with results</a:t>
            </a:r>
          </a:p>
        </p:txBody>
      </p:sp>
      <p:sp>
        <p:nvSpPr>
          <p:cNvPr id="2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</a:t>
            </a:r>
          </a:p>
        </p:txBody>
      </p:sp>
      <p:sp>
        <p:nvSpPr>
          <p:cNvPr id="247" name="1. Creating the tab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1. Creating the table</a:t>
            </a:r>
          </a:p>
        </p:txBody>
      </p:sp>
      <p:sp>
        <p:nvSpPr>
          <p:cNvPr id="248" name="Usually you have a separate function that handles thi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Usually you have a separate function that handles this</a:t>
            </a:r>
          </a:p>
          <a:p>
            <a:pPr/>
            <a:r>
              <a:t>The </a:t>
            </a:r>
            <a:r>
              <a:rPr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createJaspTable()</a:t>
            </a:r>
            <a:r>
              <a:t> function from the </a:t>
            </a:r>
            <a:r>
              <a:rPr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JaspBase</a:t>
            </a:r>
            <a:r>
              <a:t> package creates the table object</a:t>
            </a:r>
          </a:p>
          <a:p>
            <a:pPr/>
            <a:r>
              <a:t>You can give it a title that will be displayed above the table in JASP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</a:t>
            </a:r>
          </a:p>
        </p:txBody>
      </p:sp>
      <p:sp>
        <p:nvSpPr>
          <p:cNvPr id="252" name="1. Creating the tab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1. Creating the table</a:t>
            </a:r>
          </a:p>
        </p:txBody>
      </p:sp>
      <p:sp>
        <p:nvSpPr>
          <p:cNvPr id="2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5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2968" y="4149882"/>
            <a:ext cx="15978064" cy="182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31164" y="7225382"/>
            <a:ext cx="16921672" cy="4441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</a:t>
            </a:r>
          </a:p>
        </p:txBody>
      </p:sp>
      <p:sp>
        <p:nvSpPr>
          <p:cNvPr id="258" name="1.1 Dependenci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1.1 Dependencies</a:t>
            </a:r>
          </a:p>
        </p:txBody>
      </p:sp>
      <p:sp>
        <p:nvSpPr>
          <p:cNvPr id="259" name="Dependencies = analysis options (from the interface) causing object to recomput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Dependencies = analysis options (from the interface) causing object to recompute</a:t>
            </a:r>
          </a:p>
          <a:p>
            <a:pPr/>
            <a:r>
              <a:t>Specified using </a:t>
            </a:r>
            <a:r>
              <a:rPr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someTableName$dependOn()</a:t>
            </a:r>
          </a:p>
        </p:txBody>
      </p:sp>
      <p:sp>
        <p:nvSpPr>
          <p:cNvPr id="2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6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5338" y="8290058"/>
            <a:ext cx="15673324" cy="2619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</a:t>
            </a:r>
          </a:p>
        </p:txBody>
      </p:sp>
      <p:sp>
        <p:nvSpPr>
          <p:cNvPr id="264" name="1.2 Adding columns to the tab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1.2 Adding columns to the table</a:t>
            </a:r>
          </a:p>
        </p:txBody>
      </p:sp>
      <p:sp>
        <p:nvSpPr>
          <p:cNvPr id="265" name="You can add columns using someTableName$addColumnInfo()…"/>
          <p:cNvSpPr txBox="1"/>
          <p:nvPr>
            <p:ph type="body" idx="1"/>
          </p:nvPr>
        </p:nvSpPr>
        <p:spPr>
          <a:xfrm>
            <a:off x="1206500" y="51121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You can add columns using </a:t>
            </a:r>
            <a:r>
              <a:rPr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someTableName$addColumnInfo()</a:t>
            </a:r>
            <a:endParaRPr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  <a:p>
            <a:pPr/>
            <a:r>
              <a:t>The addColumnInfo requires some arguments:</a:t>
            </a:r>
          </a:p>
          <a:p>
            <a:pPr lvl="1"/>
            <a:r>
              <a:t>name: The name of the column (important for filling the table later)</a:t>
            </a:r>
          </a:p>
          <a:p>
            <a:pPr lvl="1"/>
            <a:r>
              <a:t>type: Type of output that will be displayed in the column (string, number, integer, pvalue)</a:t>
            </a:r>
          </a:p>
          <a:p>
            <a:pPr lvl="1"/>
            <a:r>
              <a:t>title: Column header displayed in JASP</a:t>
            </a:r>
          </a:p>
          <a:p>
            <a:pPr/>
            <a:r>
              <a:t>Note: There are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2" invalidUrl="" action="" tgtFrame="" tooltip="" history="1" highlightClick="0" endSnd="0"/>
              </a:rPr>
              <a:t>other (optional) arguments</a:t>
            </a:r>
            <a:r>
              <a:t>.</a:t>
            </a:r>
          </a:p>
        </p:txBody>
      </p:sp>
      <p:sp>
        <p:nvSpPr>
          <p:cNvPr id="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6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83342" y="3317902"/>
            <a:ext cx="14417316" cy="19523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6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 </a:t>
            </a:r>
          </a:p>
        </p:txBody>
      </p:sp>
      <p:sp>
        <p:nvSpPr>
          <p:cNvPr id="270" name="2. Adding table to outpu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2. Adding table to output</a:t>
            </a:r>
          </a:p>
        </p:txBody>
      </p:sp>
      <p:sp>
        <p:nvSpPr>
          <p:cNvPr id="271" name="When you’re done creating the table, you have to add it to the jaspResul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you’re done creating the table, you have to add it to the jaspResults</a:t>
            </a:r>
          </a:p>
          <a:p>
            <a:pPr/>
          </a:p>
          <a:p>
            <a:pPr/>
          </a:p>
          <a:p>
            <a:pPr/>
            <a:r>
              <a:t>Here you usually add an if-statement:</a:t>
            </a:r>
          </a:p>
          <a:p>
            <a:pPr lvl="1"/>
            <a:r>
              <a:t>If results are NOT ready to be computed, </a:t>
            </a:r>
            <a:r>
              <a:rPr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return()</a:t>
            </a:r>
          </a:p>
          <a:p>
            <a:pPr lvl="1"/>
            <a:r>
              <a:t>Else you want to fill the table with results</a:t>
            </a:r>
          </a:p>
        </p:txBody>
      </p:sp>
      <p:sp>
        <p:nvSpPr>
          <p:cNvPr id="2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1819" y="6051308"/>
            <a:ext cx="8020362" cy="13593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93282" y="10408258"/>
            <a:ext cx="8862163" cy="1535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hallen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Challenge</a:t>
            </a:r>
          </a:p>
        </p:txBody>
      </p:sp>
      <p:sp>
        <p:nvSpPr>
          <p:cNvPr id="277" name="Add an empty table to the JASP outpu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Add an empty table to the JASP output</a:t>
            </a:r>
          </a:p>
        </p:txBody>
      </p:sp>
      <p:sp>
        <p:nvSpPr>
          <p:cNvPr id="278" name="Fork the jaspModuleTemplate or sync your for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Fork the jaspModuleTemplate or sync your fork</a:t>
            </a:r>
          </a:p>
          <a:p>
            <a:pPr/>
            <a:r>
              <a:t>Add an empty output table to the Loading data analysis</a:t>
            </a:r>
          </a:p>
          <a:p>
            <a:pPr lvl="1"/>
            <a:r>
              <a:t>For example, add a table that will contain the mean of a variable</a:t>
            </a:r>
          </a:p>
          <a:p>
            <a:pPr/>
            <a:r>
              <a:t>Within your local clone of the module template, locate the </a:t>
            </a:r>
            <a:r>
              <a:rPr i="1"/>
              <a:t>R</a:t>
            </a:r>
            <a:r>
              <a:t> folder, and then open the </a:t>
            </a:r>
            <a:r>
              <a:rPr i="1"/>
              <a:t>loadingData.R</a:t>
            </a:r>
            <a:r>
              <a:t> file</a:t>
            </a:r>
          </a:p>
          <a:p>
            <a:pPr/>
            <a:r>
              <a:t>You do not need to fill the table with any output yet!</a:t>
            </a:r>
          </a:p>
        </p:txBody>
      </p:sp>
      <p:sp>
        <p:nvSpPr>
          <p:cNvPr id="2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</a:t>
            </a:r>
          </a:p>
        </p:txBody>
      </p:sp>
      <p:sp>
        <p:nvSpPr>
          <p:cNvPr id="282" name="3. Filling the table with resul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3. Filling the table with results</a:t>
            </a:r>
          </a:p>
        </p:txBody>
      </p:sp>
      <p:sp>
        <p:nvSpPr>
          <p:cNvPr id="283" name="For filling the table, you have two option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filling the table, you have two options</a:t>
            </a:r>
          </a:p>
          <a:p>
            <a:pPr marL="889000" indent="-889000">
              <a:buSzPct val="100000"/>
              <a:buAutoNum type="arabicPeriod" startAt="1"/>
              <a:defRPr>
                <a:latin typeface="Google Sans Code Medium"/>
                <a:ea typeface="Google Sans Code Medium"/>
                <a:cs typeface="Google Sans Code Medium"/>
                <a:sym typeface="Google Sans Code Medium"/>
              </a:defRPr>
            </a:pPr>
            <a:r>
              <a:t>someTableName$addRows()</a:t>
            </a:r>
          </a:p>
          <a:p>
            <a:pPr lvl="1"/>
            <a:r>
              <a:t>Expects list with names of the entries equal to the names of the columns that you defined when creating the table</a:t>
            </a:r>
          </a:p>
          <a:p>
            <a:pPr marL="889000" indent="-889000">
              <a:buSzPct val="100000"/>
              <a:buAutoNum type="arabicPeriod" startAt="1"/>
              <a:defRPr>
                <a:latin typeface="Google Sans Code Medium"/>
                <a:ea typeface="Google Sans Code Medium"/>
                <a:cs typeface="Google Sans Code Medium"/>
                <a:sym typeface="Google Sans Code Medium"/>
              </a:defRPr>
            </a:pPr>
            <a:r>
              <a:t>someTableName$setData()</a:t>
            </a:r>
          </a:p>
          <a:p>
            <a:pPr lvl="1"/>
            <a:r>
              <a:t>Can be used when you would like to add all rows at once</a:t>
            </a:r>
          </a:p>
          <a:p>
            <a:pPr lvl="1"/>
            <a:r>
              <a:t>Accepts data.frames among others</a:t>
            </a:r>
          </a:p>
        </p:txBody>
      </p:sp>
      <p:sp>
        <p:nvSpPr>
          <p:cNvPr id="2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8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Output 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Output Table</a:t>
            </a:r>
          </a:p>
        </p:txBody>
      </p:sp>
      <p:sp>
        <p:nvSpPr>
          <p:cNvPr id="287" name="3. Filling the table with resul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3. Filling the table with results</a:t>
            </a:r>
          </a:p>
        </p:txBody>
      </p:sp>
      <p:sp>
        <p:nvSpPr>
          <p:cNvPr id="2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6131" y="4575894"/>
            <a:ext cx="10751739" cy="64418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hallen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Challenge</a:t>
            </a:r>
          </a:p>
        </p:txBody>
      </p:sp>
      <p:sp>
        <p:nvSpPr>
          <p:cNvPr id="292" name="Fill your table with resul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Fill your table with results</a:t>
            </a:r>
          </a:p>
        </p:txBody>
      </p:sp>
      <p:sp>
        <p:nvSpPr>
          <p:cNvPr id="2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94" name="Fill the table you created previously with results (e.g., the mean of an input variable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Fill the table you created previously with results (e.g., the mean of an input variable)</a:t>
            </a:r>
          </a:p>
          <a:p>
            <a:pPr/>
            <a:r>
              <a:t>More details about R-coding for JASP can be found in the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2" invalidUrl="" action="" tgtFrame="" tooltip="" history="1" highlightClick="0" endSnd="0"/>
              </a:rPr>
              <a:t>documentation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Google Sans Bold"/>
        <a:ea typeface="Google Sans Bold"/>
        <a:cs typeface="Google Sans Bold"/>
      </a:majorFont>
      <a:minorFont>
        <a:latin typeface="Google Sans Bold"/>
        <a:ea typeface="Google Sans Bold"/>
        <a:cs typeface="Google Sans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Regular"/>
            <a:ea typeface="Google Sans Regular"/>
            <a:cs typeface="Google Sans Regular"/>
            <a:sym typeface="Googl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Google Sans Bold"/>
        <a:ea typeface="Google Sans Bold"/>
        <a:cs typeface="Google Sans Bold"/>
      </a:majorFont>
      <a:minorFont>
        <a:latin typeface="Google Sans Bold"/>
        <a:ea typeface="Google Sans Bold"/>
        <a:cs typeface="Google Sans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Regular"/>
            <a:ea typeface="Google Sans Regular"/>
            <a:cs typeface="Google Sans Regular"/>
            <a:sym typeface="Googl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