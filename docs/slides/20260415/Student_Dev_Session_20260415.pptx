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3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Agenda Topics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+mj-lt"/>
                <a:ea typeface="+mj-ea"/>
                <a:cs typeface="+mj-cs"/>
                <a:sym typeface="Helvetica Neue"/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r-pkgs.org/testing-basics.html" TargetMode="External"/><Relationship Id="rId3" Type="http://schemas.openxmlformats.org/officeDocument/2006/relationships/hyperlink" Target="https://testthat.r-lib.org/index.html" TargetMode="External"/><Relationship Id="rId4" Type="http://schemas.openxmlformats.org/officeDocument/2006/relationships/hyperlink" Target="https://github.com/jasp-stats/jasp-desktop/blob/development/Docs/development/r-unit-test-guide.md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vtools.r-lib.org/" TargetMode="External"/><Relationship Id="rId3" Type="http://schemas.openxmlformats.org/officeDocument/2006/relationships/hyperlink" Target="https://usethis.r-lib.org/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testthat.r-lib.org/reference/index.html" TargetMode="External"/><Relationship Id="rId3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ulianwuth/unit-testing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11.02.2026                                                                                                                                      julian.wuth@student.uva.nl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15.04.2026                                                                                                                                      julian.wuth@student.uva.nl</a:t>
            </a:r>
          </a:p>
        </p:txBody>
      </p:sp>
      <p:sp>
        <p:nvSpPr>
          <p:cNvPr id="173" name="JASP Student Developers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JASP Student Developers</a:t>
            </a:r>
          </a:p>
        </p:txBody>
      </p:sp>
      <p:sp>
        <p:nvSpPr>
          <p:cNvPr id="174" name="Introduction to R-Coding for JASP"/>
          <p:cNvSpPr txBox="1"/>
          <p:nvPr/>
        </p:nvSpPr>
        <p:spPr>
          <a:xfrm>
            <a:off x="1201342" y="72231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/>
            </a:lvl1pPr>
          </a:lstStyle>
          <a:p>
            <a:pPr/>
            <a:r>
              <a:t>Unit Testing</a:t>
            </a:r>
          </a:p>
        </p:txBody>
      </p:sp>
      <p:pic>
        <p:nvPicPr>
          <p:cNvPr id="175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79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Introduction to unit testing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Live-Walkthrough</a:t>
            </a:r>
          </a:p>
        </p:txBody>
      </p:sp>
      <p:sp>
        <p:nvSpPr>
          <p:cNvPr id="180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1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84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Introduction to unit testing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Live Walkthrough</a:t>
            </a:r>
          </a:p>
        </p:txBody>
      </p:sp>
      <p:sp>
        <p:nvSpPr>
          <p:cNvPr id="185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6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Intro to unit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Intro to unit testing</a:t>
            </a:r>
          </a:p>
        </p:txBody>
      </p:sp>
      <p:sp>
        <p:nvSpPr>
          <p:cNvPr id="189" name="Resource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Resources</a:t>
            </a:r>
          </a:p>
        </p:txBody>
      </p:sp>
      <p:sp>
        <p:nvSpPr>
          <p:cNvPr id="19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This presentation is based on a chapter in the R Packages book. Go check it out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here</a:t>
            </a:r>
            <a:r>
              <a:t>!</a:t>
            </a:r>
          </a:p>
          <a:p>
            <a:pPr/>
            <a:r>
              <a:t>The main package used is the </a:t>
            </a:r>
            <a:r>
              <a:rPr i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testthat</a:t>
            </a:r>
            <a:r>
              <a:rPr i="1"/>
              <a:t> </a:t>
            </a:r>
            <a:r>
              <a:t>R-package</a:t>
            </a:r>
          </a:p>
          <a:p>
            <a:pPr/>
            <a:r>
              <a:t>JASP also has its own documentation about unit testing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here</a:t>
            </a:r>
            <a:r>
              <a:t> (more about this in the next session)</a:t>
            </a:r>
          </a:p>
        </p:txBody>
      </p:sp>
      <p:sp>
        <p:nvSpPr>
          <p:cNvPr id="19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Intro to unit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Intro to unit testing</a:t>
            </a:r>
          </a:p>
        </p:txBody>
      </p:sp>
      <p:sp>
        <p:nvSpPr>
          <p:cNvPr id="194" name="Why unit testing?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unit testing?</a:t>
            </a:r>
          </a:p>
        </p:txBody>
      </p:sp>
      <p:sp>
        <p:nvSpPr>
          <p:cNvPr id="195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41684" indent="-641684">
              <a:buSzPct val="100000"/>
              <a:buAutoNum type="arabicPeriod" startAt="1"/>
            </a:pPr>
            <a:r>
              <a:t>Ensures that your code behaves as expected</a:t>
            </a:r>
          </a:p>
          <a:p>
            <a:pPr marL="641684" indent="-641684">
              <a:buSzPct val="100000"/>
              <a:buAutoNum type="arabicPeriod" startAt="1"/>
            </a:pPr>
            <a:r>
              <a:t>Fewer bugs</a:t>
            </a:r>
          </a:p>
          <a:p>
            <a:pPr marL="641684" indent="-641684">
              <a:buSzPct val="100000"/>
              <a:buAutoNum type="arabicPeriod" startAt="1"/>
            </a:pPr>
            <a:r>
              <a:t>Alerts you to unwanted changes later</a:t>
            </a:r>
          </a:p>
          <a:p>
            <a:pPr marL="641684" indent="-641684">
              <a:buSzPct val="100000"/>
              <a:buAutoNum type="arabicPeriod" startAt="1"/>
            </a:pPr>
            <a:r>
              <a:t>Shows you where your code might need restructuring</a:t>
            </a:r>
          </a:p>
          <a:p>
            <a:pPr marL="641684" indent="-641684">
              <a:buSzPct val="100000"/>
              <a:buAutoNum type="arabicPeriod" startAt="1"/>
            </a:pPr>
            <a:r>
              <a:t>Implement changes without worrying about breaking your code (robust code)</a:t>
            </a:r>
          </a:p>
        </p:txBody>
      </p:sp>
      <p:sp>
        <p:nvSpPr>
          <p:cNvPr id="19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Intro to unit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Intro to unit testing</a:t>
            </a:r>
          </a:p>
        </p:txBody>
      </p:sp>
      <p:sp>
        <p:nvSpPr>
          <p:cNvPr id="199" name="devtools, usethis &amp; testthat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devtools, usethis &amp; testthat</a:t>
            </a:r>
          </a:p>
        </p:txBody>
      </p:sp>
      <p:sp>
        <p:nvSpPr>
          <p:cNvPr id="20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devtools</a:t>
            </a:r>
            <a:r>
              <a:t> and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usethis</a:t>
            </a:r>
            <a:r>
              <a:t> packages will make your life a lot easier when developing a package</a:t>
            </a:r>
          </a:p>
          <a:p>
            <a:pPr/>
            <a:r>
              <a:t>In your package directory, run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usethis::use_testthat()</a:t>
            </a:r>
            <a:r>
              <a:t> to initialise testthat usage</a:t>
            </a:r>
          </a:p>
          <a:p>
            <a:pPr/>
            <a:r>
              <a:t>This creates relevant folders and adds dependencies</a:t>
            </a:r>
          </a:p>
        </p:txBody>
      </p:sp>
      <p:sp>
        <p:nvSpPr>
          <p:cNvPr id="20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0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Intro to unit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Intro to unit testing</a:t>
            </a:r>
          </a:p>
        </p:txBody>
      </p:sp>
      <p:sp>
        <p:nvSpPr>
          <p:cNvPr id="204" name="Creating a test fil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a test file</a:t>
            </a:r>
          </a:p>
        </p:txBody>
      </p:sp>
      <p:sp>
        <p:nvSpPr>
          <p:cNvPr id="205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Say you have an R file located here: </a:t>
            </a:r>
            <a:r>
              <a:rPr i="1"/>
              <a:t>YOURPACKAGE/R/myFunction.R</a:t>
            </a:r>
            <a:endParaRPr i="1"/>
          </a:p>
          <a:p>
            <a:pPr/>
            <a:r>
              <a:t>You can create a test file for testing the R code in myFunction.R by running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usethis::use_test(“myFunction”)</a:t>
            </a:r>
            <a:endParaRPr>
              <a:latin typeface="Google Sans Code Regular"/>
              <a:ea typeface="Google Sans Code Regular"/>
              <a:cs typeface="Google Sans Code Regular"/>
              <a:sym typeface="Google Sans Code Regular"/>
            </a:endParaRPr>
          </a:p>
          <a:p>
            <a:pPr/>
            <a:r>
              <a:t>This creates the following file: </a:t>
            </a:r>
            <a:r>
              <a:rPr i="1"/>
              <a:t>YOURPACKAGE/tests/testthat/test-myFunction.R</a:t>
            </a:r>
          </a:p>
        </p:txBody>
      </p:sp>
      <p:sp>
        <p:nvSpPr>
          <p:cNvPr id="20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0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Intro to unit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Intro to unit testing</a:t>
            </a:r>
          </a:p>
        </p:txBody>
      </p:sp>
      <p:sp>
        <p:nvSpPr>
          <p:cNvPr id="209" name="Writing the test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Writing the test</a:t>
            </a:r>
          </a:p>
        </p:txBody>
      </p:sp>
      <p:sp>
        <p:nvSpPr>
          <p:cNvPr id="21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Test files contain a call to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test_that()</a:t>
            </a:r>
            <a:r>
              <a:t> with expectations:</a:t>
            </a:r>
          </a:p>
          <a:p>
            <a:pPr marL="0" indent="0">
              <a:buSzTx/>
              <a:buNone/>
            </a:pPr>
            <a:r>
              <a:t>                                          </a:t>
            </a:r>
          </a:p>
          <a:p>
            <a:pPr marL="481263" indent="-481263">
              <a:buSzPct val="100000"/>
            </a:pPr>
            <a:r>
              <a:t>There are many expectations that testthat offers called through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expect_*</a:t>
            </a:r>
            <a:r>
              <a:t> (see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here</a:t>
            </a:r>
            <a:r>
              <a:t> for an overview)</a:t>
            </a:r>
          </a:p>
        </p:txBody>
      </p:sp>
      <p:pic>
        <p:nvPicPr>
          <p:cNvPr id="21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6499" y="4248503"/>
            <a:ext cx="9013818" cy="22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Intro to unit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Intro to unit testing</a:t>
            </a:r>
          </a:p>
        </p:txBody>
      </p:sp>
      <p:sp>
        <p:nvSpPr>
          <p:cNvPr id="215" name="Running test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Running tests</a:t>
            </a:r>
          </a:p>
        </p:txBody>
      </p:sp>
      <p:sp>
        <p:nvSpPr>
          <p:cNvPr id="216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Many tests can be run interactively:</a:t>
            </a:r>
          </a:p>
          <a:p>
            <a:pPr marL="0" indent="0">
              <a:buSzTx/>
              <a:buNone/>
            </a:pPr>
            <a:r>
              <a:t>                                          </a:t>
            </a:r>
          </a:p>
          <a:p>
            <a:pPr marL="481263" indent="-481263">
              <a:buSzPct val="100000"/>
            </a:pPr>
            <a:r>
              <a:t>To run all tests, use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devtools::test()</a:t>
            </a:r>
            <a:endParaRPr>
              <a:latin typeface="Google Sans Code Regular"/>
              <a:ea typeface="Google Sans Code Regular"/>
              <a:cs typeface="Google Sans Code Regular"/>
              <a:sym typeface="Google Sans Code Regular"/>
            </a:endParaRPr>
          </a:p>
          <a:p>
            <a:pPr marL="481263" indent="-481263">
              <a:buSzPct val="100000"/>
            </a:pPr>
            <a:r>
              <a:t>Or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devtools::check()</a:t>
            </a:r>
            <a:r>
              <a:t>, which will also check other good practices</a:t>
            </a:r>
          </a:p>
        </p:txBody>
      </p:sp>
      <p:pic>
        <p:nvPicPr>
          <p:cNvPr id="21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500" y="4248503"/>
            <a:ext cx="7622607" cy="2227812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1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221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Introduction to unit testing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Live Walkthrough</a:t>
            </a:r>
          </a:p>
        </p:txBody>
      </p:sp>
      <p:sp>
        <p:nvSpPr>
          <p:cNvPr id="222" name="Slide Number"/>
          <p:cNvSpPr txBox="1"/>
          <p:nvPr>
            <p:ph type="sldNum" sz="quarter" idx="4294967295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3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Live Walkthroug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Live Walkthrough</a:t>
            </a:r>
          </a:p>
        </p:txBody>
      </p:sp>
      <p:sp>
        <p:nvSpPr>
          <p:cNvPr id="226" name="Unit testing in R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testing in R</a:t>
            </a:r>
          </a:p>
        </p:txBody>
      </p:sp>
      <p:sp>
        <p:nvSpPr>
          <p:cNvPr id="227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Clone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this repo</a:t>
            </a:r>
            <a:r>
              <a:t> to follow along</a:t>
            </a:r>
          </a:p>
        </p:txBody>
      </p:sp>
      <p:sp>
        <p:nvSpPr>
          <p:cNvPr id="22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ee you next time!"/>
          <p:cNvSpPr txBox="1"/>
          <p:nvPr>
            <p:ph type="title"/>
          </p:nvPr>
        </p:nvSpPr>
        <p:spPr>
          <a:xfrm>
            <a:off x="1206497" y="5626099"/>
            <a:ext cx="21971006" cy="4648202"/>
          </a:xfrm>
          <a:prstGeom prst="rect">
            <a:avLst/>
          </a:prstGeom>
        </p:spPr>
        <p:txBody>
          <a:bodyPr anchor="ctr"/>
          <a:lstStyle>
            <a:lvl1pPr algn="ctr">
              <a:defRPr spc="-209" sz="10500"/>
            </a:lvl1pPr>
          </a:lstStyle>
          <a:p>
            <a:pPr/>
            <a:r>
              <a:t>See you next time!</a:t>
            </a:r>
          </a:p>
        </p:txBody>
      </p:sp>
      <p:pic>
        <p:nvPicPr>
          <p:cNvPr id="231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10626923" y="2345521"/>
            <a:ext cx="3384118" cy="322748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